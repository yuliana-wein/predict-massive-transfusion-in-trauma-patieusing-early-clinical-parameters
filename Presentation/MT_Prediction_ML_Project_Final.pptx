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6" r:id="rId4"/>
    <p:sldId id="258" r:id="rId5"/>
    <p:sldId id="267" r:id="rId6"/>
    <p:sldId id="268" r:id="rId7"/>
    <p:sldId id="275" r:id="rId8"/>
    <p:sldId id="276" r:id="rId9"/>
    <p:sldId id="277" r:id="rId10"/>
    <p:sldId id="278" r:id="rId11"/>
    <p:sldId id="262" r:id="rId12"/>
    <p:sldId id="269" r:id="rId13"/>
    <p:sldId id="270" r:id="rId14"/>
    <p:sldId id="280" r:id="rId15"/>
    <p:sldId id="271" r:id="rId16"/>
    <p:sldId id="272" r:id="rId17"/>
    <p:sldId id="279" r:id="rId18"/>
    <p:sldId id="26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4532B7-A1D3-450B-B9C8-9B2096131FCB}" v="15" dt="2026-07-03T05:54:53.1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יוליאנה ויינשטיין" userId="9df439e20db99215" providerId="LiveId" clId="{6FDB55C1-5AEB-419B-A99F-6801765D5749}"/>
    <pc:docChg chg="undo custSel addSld modSld sldOrd">
      <pc:chgData name="יוליאנה ויינשטיין" userId="9df439e20db99215" providerId="LiveId" clId="{6FDB55C1-5AEB-419B-A99F-6801765D5749}" dt="2026-07-03T06:07:07.320" v="401" actId="20577"/>
      <pc:docMkLst>
        <pc:docMk/>
      </pc:docMkLst>
      <pc:sldChg chg="modSp mod modNotesTx">
        <pc:chgData name="יוליאנה ויינשטיין" userId="9df439e20db99215" providerId="LiveId" clId="{6FDB55C1-5AEB-419B-A99F-6801765D5749}" dt="2026-07-03T06:06:53.580" v="382" actId="20577"/>
        <pc:sldMkLst>
          <pc:docMk/>
          <pc:sldMk cId="0" sldId="262"/>
        </pc:sldMkLst>
        <pc:spChg chg="mod">
          <ac:chgData name="יוליאנה ויינשטיין" userId="9df439e20db99215" providerId="LiveId" clId="{6FDB55C1-5AEB-419B-A99F-6801765D5749}" dt="2026-07-02T21:38:19.395" v="171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יוליאנה ויינשטיין" userId="9df439e20db99215" providerId="LiveId" clId="{6FDB55C1-5AEB-419B-A99F-6801765D5749}" dt="2026-07-03T03:33:04.220" v="302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יוליאנה ויינשטיין" userId="9df439e20db99215" providerId="LiveId" clId="{6FDB55C1-5AEB-419B-A99F-6801765D5749}" dt="2026-07-03T03:32:17.851" v="296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יוליאנה ויינשטיין" userId="9df439e20db99215" providerId="LiveId" clId="{6FDB55C1-5AEB-419B-A99F-6801765D5749}" dt="2026-07-03T03:32:48.083" v="301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יוליאנה ויינשטיין" userId="9df439e20db99215" providerId="LiveId" clId="{6FDB55C1-5AEB-419B-A99F-6801765D5749}" dt="2026-07-02T20:55:01.380" v="4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יוליאנה ויינשטיין" userId="9df439e20db99215" providerId="LiveId" clId="{6FDB55C1-5AEB-419B-A99F-6801765D5749}" dt="2026-07-02T20:54:51.111" v="3" actId="1076"/>
          <ac:spMkLst>
            <pc:docMk/>
            <pc:sldMk cId="0" sldId="262"/>
            <ac:spMk id="19" creationId="{00000000-0000-0000-0000-000000000000}"/>
          </ac:spMkLst>
        </pc:spChg>
      </pc:sldChg>
      <pc:sldChg chg="delSp modSp mod modNotesTx">
        <pc:chgData name="יוליאנה ויינשטיין" userId="9df439e20db99215" providerId="LiveId" clId="{6FDB55C1-5AEB-419B-A99F-6801765D5749}" dt="2026-07-03T04:34:48.140" v="334" actId="20577"/>
        <pc:sldMkLst>
          <pc:docMk/>
          <pc:sldMk cId="0" sldId="264"/>
        </pc:sldMkLst>
        <pc:spChg chg="mod">
          <ac:chgData name="יוליאנה ויינשטיין" userId="9df439e20db99215" providerId="LiveId" clId="{6FDB55C1-5AEB-419B-A99F-6801765D5749}" dt="2026-07-03T04:34:30.215" v="329" actId="20577"/>
          <ac:spMkLst>
            <pc:docMk/>
            <pc:sldMk cId="0" sldId="264"/>
            <ac:spMk id="2" creationId="{00000000-0000-0000-0000-000000000000}"/>
          </ac:spMkLst>
        </pc:spChg>
        <pc:picChg chg="del">
          <ac:chgData name="יוליאנה ויינשטיין" userId="9df439e20db99215" providerId="LiveId" clId="{6FDB55C1-5AEB-419B-A99F-6801765D5749}" dt="2026-07-03T03:09:03.255" v="185" actId="21"/>
          <ac:picMkLst>
            <pc:docMk/>
            <pc:sldMk cId="0" sldId="264"/>
            <ac:picMk id="19" creationId="{9EAB404F-CAF5-BEC2-FD50-EF2FA64A08CD}"/>
          </ac:picMkLst>
        </pc:picChg>
      </pc:sldChg>
      <pc:sldChg chg="addSp delSp modSp mod">
        <pc:chgData name="יוליאנה ויינשטיין" userId="9df439e20db99215" providerId="LiveId" clId="{6FDB55C1-5AEB-419B-A99F-6801765D5749}" dt="2026-07-02T21:38:27.323" v="172" actId="20577"/>
        <pc:sldMkLst>
          <pc:docMk/>
          <pc:sldMk cId="1890851364" sldId="269"/>
        </pc:sldMkLst>
        <pc:spChg chg="mod">
          <ac:chgData name="יוליאנה ויינשטיין" userId="9df439e20db99215" providerId="LiveId" clId="{6FDB55C1-5AEB-419B-A99F-6801765D5749}" dt="2026-07-02T21:38:27.323" v="172" actId="20577"/>
          <ac:spMkLst>
            <pc:docMk/>
            <pc:sldMk cId="1890851364" sldId="269"/>
            <ac:spMk id="5" creationId="{6C3172D4-E169-D778-FE9B-BB9823DB7A66}"/>
          </ac:spMkLst>
        </pc:spChg>
        <pc:spChg chg="mod">
          <ac:chgData name="יוליאנה ויינשטיין" userId="9df439e20db99215" providerId="LiveId" clId="{6FDB55C1-5AEB-419B-A99F-6801765D5749}" dt="2026-07-02T21:23:34.701" v="153" actId="14100"/>
          <ac:spMkLst>
            <pc:docMk/>
            <pc:sldMk cId="1890851364" sldId="269"/>
            <ac:spMk id="6" creationId="{3FC62F5A-4B21-E52D-4753-AFF04EB994A0}"/>
          </ac:spMkLst>
        </pc:spChg>
        <pc:spChg chg="mod">
          <ac:chgData name="יוליאנה ויינשטיין" userId="9df439e20db99215" providerId="LiveId" clId="{6FDB55C1-5AEB-419B-A99F-6801765D5749}" dt="2026-07-02T21:22:33.893" v="149" actId="404"/>
          <ac:spMkLst>
            <pc:docMk/>
            <pc:sldMk cId="1890851364" sldId="269"/>
            <ac:spMk id="7" creationId="{F780B8AB-0EBA-63E5-2F9F-44C314C6B42A}"/>
          </ac:spMkLst>
        </pc:spChg>
        <pc:picChg chg="del mod">
          <ac:chgData name="יוליאנה ויינשטיין" userId="9df439e20db99215" providerId="LiveId" clId="{6FDB55C1-5AEB-419B-A99F-6801765D5749}" dt="2026-07-02T21:13:34.445" v="125" actId="21"/>
          <ac:picMkLst>
            <pc:docMk/>
            <pc:sldMk cId="1890851364" sldId="269"/>
            <ac:picMk id="2" creationId="{6CF33E42-1F9C-2511-883E-6D8E9A13CFB1}"/>
          </ac:picMkLst>
        </pc:picChg>
        <pc:picChg chg="del">
          <ac:chgData name="יוליאנה ויינשטיין" userId="9df439e20db99215" providerId="LiveId" clId="{6FDB55C1-5AEB-419B-A99F-6801765D5749}" dt="2026-07-02T21:13:21.508" v="123" actId="21"/>
          <ac:picMkLst>
            <pc:docMk/>
            <pc:sldMk cId="1890851364" sldId="269"/>
            <ac:picMk id="11" creationId="{00717423-17B1-427B-A96E-FA1A9594CF03}"/>
          </ac:picMkLst>
        </pc:picChg>
        <pc:picChg chg="add mod">
          <ac:chgData name="יוליאנה ויינשטיין" userId="9df439e20db99215" providerId="LiveId" clId="{6FDB55C1-5AEB-419B-A99F-6801765D5749}" dt="2026-07-02T21:23:31.454" v="152" actId="1076"/>
          <ac:picMkLst>
            <pc:docMk/>
            <pc:sldMk cId="1890851364" sldId="269"/>
            <ac:picMk id="13" creationId="{E6C5F862-A5FC-3BD1-F14C-8B659387E504}"/>
          </ac:picMkLst>
        </pc:picChg>
        <pc:picChg chg="add mod">
          <ac:chgData name="יוליאנה ויינשטיין" userId="9df439e20db99215" providerId="LiveId" clId="{6FDB55C1-5AEB-419B-A99F-6801765D5749}" dt="2026-07-02T21:34:27.230" v="167" actId="1076"/>
          <ac:picMkLst>
            <pc:docMk/>
            <pc:sldMk cId="1890851364" sldId="269"/>
            <ac:picMk id="15" creationId="{AF3D07E0-D022-2149-2ED6-AFAEF8EB9313}"/>
          </ac:picMkLst>
        </pc:picChg>
      </pc:sldChg>
      <pc:sldChg chg="modSp mod modNotesTx">
        <pc:chgData name="יוליאנה ויינשטיין" userId="9df439e20db99215" providerId="LiveId" clId="{6FDB55C1-5AEB-419B-A99F-6801765D5749}" dt="2026-07-03T03:16:10.343" v="251" actId="20577"/>
        <pc:sldMkLst>
          <pc:docMk/>
          <pc:sldMk cId="1648027534" sldId="270"/>
        </pc:sldMkLst>
        <pc:spChg chg="mod">
          <ac:chgData name="יוליאנה ויינשטיין" userId="9df439e20db99215" providerId="LiveId" clId="{6FDB55C1-5AEB-419B-A99F-6801765D5749}" dt="2026-07-02T21:38:33.840" v="173" actId="20577"/>
          <ac:spMkLst>
            <pc:docMk/>
            <pc:sldMk cId="1648027534" sldId="270"/>
            <ac:spMk id="5" creationId="{9334F982-1571-ACD3-81A3-33F49DAEBEFE}"/>
          </ac:spMkLst>
        </pc:spChg>
        <pc:picChg chg="mod">
          <ac:chgData name="יוליאנה ויינשטיין" userId="9df439e20db99215" providerId="LiveId" clId="{6FDB55C1-5AEB-419B-A99F-6801765D5749}" dt="2026-07-02T21:37:53.604" v="169" actId="1076"/>
          <ac:picMkLst>
            <pc:docMk/>
            <pc:sldMk cId="1648027534" sldId="270"/>
            <ac:picMk id="2" creationId="{CBDD71CA-A336-FDA3-6F7E-C6B3AB8F22AE}"/>
          </ac:picMkLst>
        </pc:picChg>
      </pc:sldChg>
      <pc:sldChg chg="addSp delSp modSp mod">
        <pc:chgData name="יוליאנה ויינשטיין" userId="9df439e20db99215" providerId="LiveId" clId="{6FDB55C1-5AEB-419B-A99F-6801765D5749}" dt="2026-07-03T03:16:14.997" v="252" actId="1076"/>
        <pc:sldMkLst>
          <pc:docMk/>
          <pc:sldMk cId="2190382047" sldId="271"/>
        </pc:sldMkLst>
        <pc:spChg chg="mod">
          <ac:chgData name="יוליאנה ויינשטיין" userId="9df439e20db99215" providerId="LiveId" clId="{6FDB55C1-5AEB-419B-A99F-6801765D5749}" dt="2026-07-03T03:08:42.419" v="182" actId="20577"/>
          <ac:spMkLst>
            <pc:docMk/>
            <pc:sldMk cId="2190382047" sldId="271"/>
            <ac:spMk id="2" creationId="{C3452B65-4E07-C502-11AD-7A62C948B335}"/>
          </ac:spMkLst>
        </pc:spChg>
        <pc:picChg chg="mod">
          <ac:chgData name="יוליאנה ויינשטיין" userId="9df439e20db99215" providerId="LiveId" clId="{6FDB55C1-5AEB-419B-A99F-6801765D5749}" dt="2026-07-03T03:16:14.997" v="252" actId="1076"/>
          <ac:picMkLst>
            <pc:docMk/>
            <pc:sldMk cId="2190382047" sldId="271"/>
            <ac:picMk id="3" creationId="{31A6DA26-044A-A555-8161-AE0A21506837}"/>
          </ac:picMkLst>
        </pc:picChg>
        <pc:picChg chg="add del mod">
          <ac:chgData name="יוליאנה ויינשטיין" userId="9df439e20db99215" providerId="LiveId" clId="{6FDB55C1-5AEB-419B-A99F-6801765D5749}" dt="2026-07-03T03:12:07.165" v="208" actId="21"/>
          <ac:picMkLst>
            <pc:docMk/>
            <pc:sldMk cId="2190382047" sldId="271"/>
            <ac:picMk id="4" creationId="{51DE6F48-E12F-0B28-B566-64D694F23A02}"/>
          </ac:picMkLst>
        </pc:picChg>
      </pc:sldChg>
      <pc:sldChg chg="modSp mod">
        <pc:chgData name="יוליאנה ויינשטיין" userId="9df439e20db99215" providerId="LiveId" clId="{6FDB55C1-5AEB-419B-A99F-6801765D5749}" dt="2026-07-03T03:08:51.034" v="183" actId="20577"/>
        <pc:sldMkLst>
          <pc:docMk/>
          <pc:sldMk cId="1930264037" sldId="272"/>
        </pc:sldMkLst>
        <pc:spChg chg="mod">
          <ac:chgData name="יוליאנה ויינשטיין" userId="9df439e20db99215" providerId="LiveId" clId="{6FDB55C1-5AEB-419B-A99F-6801765D5749}" dt="2026-07-03T03:08:51.034" v="183" actId="20577"/>
          <ac:spMkLst>
            <pc:docMk/>
            <pc:sldMk cId="1930264037" sldId="272"/>
            <ac:spMk id="3" creationId="{E3F83B39-A6D7-1A0E-7D05-87D864F9B5E6}"/>
          </ac:spMkLst>
        </pc:spChg>
      </pc:sldChg>
      <pc:sldChg chg="modSp mod">
        <pc:chgData name="יוליאנה ויינשטיין" userId="9df439e20db99215" providerId="LiveId" clId="{6FDB55C1-5AEB-419B-A99F-6801765D5749}" dt="2026-07-02T21:01:59.626" v="30" actId="14100"/>
        <pc:sldMkLst>
          <pc:docMk/>
          <pc:sldMk cId="948422581" sldId="277"/>
        </pc:sldMkLst>
        <pc:spChg chg="mod">
          <ac:chgData name="יוליאנה ויינשטיין" userId="9df439e20db99215" providerId="LiveId" clId="{6FDB55C1-5AEB-419B-A99F-6801765D5749}" dt="2026-07-02T20:57:41.590" v="9" actId="14100"/>
          <ac:spMkLst>
            <pc:docMk/>
            <pc:sldMk cId="948422581" sldId="277"/>
            <ac:spMk id="80" creationId="{F3384E7C-7F37-8216-978E-89D232A30A59}"/>
          </ac:spMkLst>
        </pc:spChg>
        <pc:spChg chg="mod">
          <ac:chgData name="יוליאנה ויינשטיין" userId="9df439e20db99215" providerId="LiveId" clId="{6FDB55C1-5AEB-419B-A99F-6801765D5749}" dt="2026-07-02T20:57:47.710" v="10" actId="14100"/>
          <ac:spMkLst>
            <pc:docMk/>
            <pc:sldMk cId="948422581" sldId="277"/>
            <ac:spMk id="98" creationId="{84111EB6-62BE-F099-E124-8855C1008191}"/>
          </ac:spMkLst>
        </pc:spChg>
        <pc:spChg chg="mod">
          <ac:chgData name="יוליאנה ויינשטיין" userId="9df439e20db99215" providerId="LiveId" clId="{6FDB55C1-5AEB-419B-A99F-6801765D5749}" dt="2026-07-02T21:01:59.626" v="30" actId="14100"/>
          <ac:spMkLst>
            <pc:docMk/>
            <pc:sldMk cId="948422581" sldId="277"/>
            <ac:spMk id="108" creationId="{6361F587-55E9-BD0F-62B3-A181330B1FCE}"/>
          </ac:spMkLst>
        </pc:spChg>
      </pc:sldChg>
      <pc:sldChg chg="addSp delSp modSp mod ord">
        <pc:chgData name="יוליאנה ויינשטיין" userId="9df439e20db99215" providerId="LiveId" clId="{6FDB55C1-5AEB-419B-A99F-6801765D5749}" dt="2026-07-03T03:12:46.261" v="240" actId="20577"/>
        <pc:sldMkLst>
          <pc:docMk/>
          <pc:sldMk cId="1788060613" sldId="278"/>
        </pc:sldMkLst>
        <pc:spChg chg="mod">
          <ac:chgData name="יוליאנה ויינשטיין" userId="9df439e20db99215" providerId="LiveId" clId="{6FDB55C1-5AEB-419B-A99F-6801765D5749}" dt="2026-07-02T21:38:14.670" v="170" actId="20577"/>
          <ac:spMkLst>
            <pc:docMk/>
            <pc:sldMk cId="1788060613" sldId="278"/>
            <ac:spMk id="5" creationId="{F2B3DFE8-9B83-D5E0-2967-6C4CDE25C048}"/>
          </ac:spMkLst>
        </pc:spChg>
        <pc:spChg chg="add mod">
          <ac:chgData name="יוליאנה ויינשטיין" userId="9df439e20db99215" providerId="LiveId" clId="{6FDB55C1-5AEB-419B-A99F-6801765D5749}" dt="2026-07-03T03:12:46.261" v="240" actId="20577"/>
          <ac:spMkLst>
            <pc:docMk/>
            <pc:sldMk cId="1788060613" sldId="278"/>
            <ac:spMk id="7" creationId="{A25B90F3-87C1-1AF6-5554-EFC3542F79C8}"/>
          </ac:spMkLst>
        </pc:spChg>
        <pc:spChg chg="add mod">
          <ac:chgData name="יוליאנה ויינשטיין" userId="9df439e20db99215" providerId="LiveId" clId="{6FDB55C1-5AEB-419B-A99F-6801765D5749}" dt="2026-07-02T21:11:25.945" v="108" actId="1076"/>
          <ac:spMkLst>
            <pc:docMk/>
            <pc:sldMk cId="1788060613" sldId="278"/>
            <ac:spMk id="8" creationId="{16CB3E26-D3E4-A089-E10B-E18902911B91}"/>
          </ac:spMkLst>
        </pc:spChg>
        <pc:picChg chg="mod">
          <ac:chgData name="יוליאנה ויינשטיין" userId="9df439e20db99215" providerId="LiveId" clId="{6FDB55C1-5AEB-419B-A99F-6801765D5749}" dt="2026-07-02T21:10:54.685" v="102" actId="1076"/>
          <ac:picMkLst>
            <pc:docMk/>
            <pc:sldMk cId="1788060613" sldId="278"/>
            <ac:picMk id="3" creationId="{564243E4-381B-D6A8-4555-440B26C1A4AC}"/>
          </ac:picMkLst>
        </pc:picChg>
        <pc:picChg chg="add del mod">
          <ac:chgData name="יוליאנה ויינשטיין" userId="9df439e20db99215" providerId="LiveId" clId="{6FDB55C1-5AEB-419B-A99F-6801765D5749}" dt="2026-07-02T21:08:00.542" v="61" actId="21"/>
          <ac:picMkLst>
            <pc:docMk/>
            <pc:sldMk cId="1788060613" sldId="278"/>
            <ac:picMk id="10" creationId="{29B81164-3C49-82AE-55D4-7F18BD6A1987}"/>
          </ac:picMkLst>
        </pc:picChg>
        <pc:picChg chg="add mod">
          <ac:chgData name="יוליאנה ויינשטיין" userId="9df439e20db99215" providerId="LiveId" clId="{6FDB55C1-5AEB-419B-A99F-6801765D5749}" dt="2026-07-02T21:11:01.822" v="105" actId="14100"/>
          <ac:picMkLst>
            <pc:docMk/>
            <pc:sldMk cId="1788060613" sldId="278"/>
            <ac:picMk id="12" creationId="{90A612A7-C694-3A7A-1AED-C1307F4A797E}"/>
          </ac:picMkLst>
        </pc:picChg>
      </pc:sldChg>
      <pc:sldChg chg="addSp modSp new mod setBg modNotesTx">
        <pc:chgData name="יוליאנה ויינשטיין" userId="9df439e20db99215" providerId="LiveId" clId="{6FDB55C1-5AEB-419B-A99F-6801765D5749}" dt="2026-07-03T04:34:12.161" v="304" actId="20577"/>
        <pc:sldMkLst>
          <pc:docMk/>
          <pc:sldMk cId="867645005" sldId="279"/>
        </pc:sldMkLst>
        <pc:spChg chg="add mod">
          <ac:chgData name="יוליאנה ויינשטיין" userId="9df439e20db99215" providerId="LiveId" clId="{6FDB55C1-5AEB-419B-A99F-6801765D5749}" dt="2026-07-03T04:34:12.161" v="304" actId="20577"/>
          <ac:spMkLst>
            <pc:docMk/>
            <pc:sldMk cId="867645005" sldId="279"/>
            <ac:spMk id="2" creationId="{5132493C-2B09-244B-9427-9E031C29AF91}"/>
          </ac:spMkLst>
        </pc:spChg>
        <pc:spChg chg="add mod">
          <ac:chgData name="יוליאנה ויינשטיין" userId="9df439e20db99215" providerId="LiveId" clId="{6FDB55C1-5AEB-419B-A99F-6801765D5749}" dt="2026-07-03T03:20:05.186" v="261" actId="113"/>
          <ac:spMkLst>
            <pc:docMk/>
            <pc:sldMk cId="867645005" sldId="279"/>
            <ac:spMk id="4" creationId="{A64C9F91-9049-6C81-6C68-ADBD99205B98}"/>
          </ac:spMkLst>
        </pc:spChg>
        <pc:spChg chg="add mod">
          <ac:chgData name="יוליאנה ויינשטיין" userId="9df439e20db99215" providerId="LiveId" clId="{6FDB55C1-5AEB-419B-A99F-6801765D5749}" dt="2026-07-03T03:20:01.307" v="260"/>
          <ac:spMkLst>
            <pc:docMk/>
            <pc:sldMk cId="867645005" sldId="279"/>
            <ac:spMk id="5" creationId="{CBA0D48E-BAF3-D06D-0041-0B697DE3FEB1}"/>
          </ac:spMkLst>
        </pc:spChg>
        <pc:spChg chg="add mod">
          <ac:chgData name="יוליאנה ויינשטיין" userId="9df439e20db99215" providerId="LiveId" clId="{6FDB55C1-5AEB-419B-A99F-6801765D5749}" dt="2026-07-03T03:20:44.976" v="265" actId="207"/>
          <ac:spMkLst>
            <pc:docMk/>
            <pc:sldMk cId="867645005" sldId="279"/>
            <ac:spMk id="7" creationId="{4CB718AF-2A44-7FBE-E637-7485FDD20574}"/>
          </ac:spMkLst>
        </pc:spChg>
        <pc:spChg chg="add mod">
          <ac:chgData name="יוליאנה ויינשטיין" userId="9df439e20db99215" providerId="LiveId" clId="{6FDB55C1-5AEB-419B-A99F-6801765D5749}" dt="2026-07-03T03:21:17.700" v="270" actId="1076"/>
          <ac:spMkLst>
            <pc:docMk/>
            <pc:sldMk cId="867645005" sldId="279"/>
            <ac:spMk id="9" creationId="{E4B87FE6-DECD-3EAE-4A99-3F13D47FEFC7}"/>
          </ac:spMkLst>
        </pc:spChg>
        <pc:spChg chg="add mod">
          <ac:chgData name="יוליאנה ויינשטיין" userId="9df439e20db99215" providerId="LiveId" clId="{6FDB55C1-5AEB-419B-A99F-6801765D5749}" dt="2026-07-03T03:22:56.400" v="278" actId="207"/>
          <ac:spMkLst>
            <pc:docMk/>
            <pc:sldMk cId="867645005" sldId="279"/>
            <ac:spMk id="11" creationId="{B1420A6B-9E6E-D581-FB01-30134E529163}"/>
          </ac:spMkLst>
        </pc:spChg>
        <pc:spChg chg="add mod">
          <ac:chgData name="יוליאנה ויינשטיין" userId="9df439e20db99215" providerId="LiveId" clId="{6FDB55C1-5AEB-419B-A99F-6801765D5749}" dt="2026-07-03T03:23:21.448" v="282" actId="14100"/>
          <ac:spMkLst>
            <pc:docMk/>
            <pc:sldMk cId="867645005" sldId="279"/>
            <ac:spMk id="13" creationId="{E664FFA0-05CE-2392-463D-BA21B7AC31E2}"/>
          </ac:spMkLst>
        </pc:spChg>
        <pc:spChg chg="add mod">
          <ac:chgData name="יוליאנה ויינשטיין" userId="9df439e20db99215" providerId="LiveId" clId="{6FDB55C1-5AEB-419B-A99F-6801765D5749}" dt="2026-07-03T03:23:48.081" v="287" actId="14100"/>
          <ac:spMkLst>
            <pc:docMk/>
            <pc:sldMk cId="867645005" sldId="279"/>
            <ac:spMk id="15" creationId="{E03C48B6-CFE5-7652-6352-23AB10303400}"/>
          </ac:spMkLst>
        </pc:spChg>
        <pc:picChg chg="add mod">
          <ac:chgData name="יוליאנה ויינשטיין" userId="9df439e20db99215" providerId="LiveId" clId="{6FDB55C1-5AEB-419B-A99F-6801765D5749}" dt="2026-07-03T03:09:46.671" v="200" actId="1076"/>
          <ac:picMkLst>
            <pc:docMk/>
            <pc:sldMk cId="867645005" sldId="279"/>
            <ac:picMk id="19" creationId="{9EAB404F-CAF5-BEC2-FD50-EF2FA64A08CD}"/>
          </ac:picMkLst>
        </pc:picChg>
      </pc:sldChg>
      <pc:sldChg chg="addSp modSp new mod setBg modNotesTx">
        <pc:chgData name="יוליאנה ויינשטיין" userId="9df439e20db99215" providerId="LiveId" clId="{6FDB55C1-5AEB-419B-A99F-6801765D5749}" dt="2026-07-03T06:07:07.320" v="401" actId="20577"/>
        <pc:sldMkLst>
          <pc:docMk/>
          <pc:sldMk cId="3266653150" sldId="280"/>
        </pc:sldMkLst>
        <pc:spChg chg="add mod">
          <ac:chgData name="יוליאנה ויינשטיין" userId="9df439e20db99215" providerId="LiveId" clId="{6FDB55C1-5AEB-419B-A99F-6801765D5749}" dt="2026-07-03T05:54:53.155" v="341"/>
          <ac:spMkLst>
            <pc:docMk/>
            <pc:sldMk cId="3266653150" sldId="280"/>
            <ac:spMk id="4" creationId="{4DD8808A-68CC-0009-4C0D-C8E811E6E499}"/>
          </ac:spMkLst>
        </pc:spChg>
        <pc:picChg chg="add mod">
          <ac:chgData name="יוליאנה ויינשטיין" userId="9df439e20db99215" providerId="LiveId" clId="{6FDB55C1-5AEB-419B-A99F-6801765D5749}" dt="2026-07-03T06:00:59.659" v="369" actId="1076"/>
          <ac:picMkLst>
            <pc:docMk/>
            <pc:sldMk cId="3266653150" sldId="280"/>
            <ac:picMk id="3" creationId="{B6A3F3C5-1563-F881-76F2-621C9E4FF42D}"/>
          </ac:picMkLst>
        </pc:picChg>
        <pc:picChg chg="add mod">
          <ac:chgData name="יוליאנה ויינשטיין" userId="9df439e20db99215" providerId="LiveId" clId="{6FDB55C1-5AEB-419B-A99F-6801765D5749}" dt="2026-07-03T06:01:03.990" v="371" actId="14100"/>
          <ac:picMkLst>
            <pc:docMk/>
            <pc:sldMk cId="3266653150" sldId="280"/>
            <ac:picMk id="6" creationId="{CC45094C-4630-1187-3909-0F81F210BBD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0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Dima; -&gt;Ayesha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65158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Ayesha; -&gt;Yuliana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CFB68-A209-7282-60BD-D10E2CD17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24259-AECB-E01C-5AC1-9F69EF461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149DA-1D8A-1BEF-87FD-F630043E9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Yuliana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C1864-0ACA-C675-9C44-DD4C94E664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30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Yuliana;-&gt; Ayesha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91535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Ayesha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53179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Ayesha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07807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Ayesha; -&gt; Yuliana</a:t>
            </a:r>
            <a:endParaRPr lang="LID4096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2732042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Yuliana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5356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Yuliana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Yuliana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938602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Yuliana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682798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Yuliana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53603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Yuliana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244229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Yuliana; -&gt; Dima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89049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Dima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5603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99848" y="2350008"/>
            <a:ext cx="2743200" cy="2743200"/>
          </a:xfrm>
          <a:prstGeom prst="ellipse">
            <a:avLst/>
          </a:prstGeom>
          <a:solidFill>
            <a:srgbClr val="185FA5">
              <a:alpha val="25000"/>
            </a:srgbClr>
          </a:solidFill>
          <a:ln w="12700">
            <a:solidFill>
              <a:srgbClr val="185FA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1471448" y="1069848"/>
            <a:ext cx="3200400" cy="3200400"/>
          </a:xfrm>
          <a:prstGeom prst="ellipse">
            <a:avLst/>
          </a:prstGeom>
          <a:solidFill>
            <a:srgbClr val="378ADD">
              <a:alpha val="18000"/>
            </a:srgbClr>
          </a:solidFill>
          <a:ln w="12700">
            <a:solidFill>
              <a:srgbClr val="378AD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155448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194560" y="155448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20040" y="196596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1965960"/>
            <a:ext cx="1737360" cy="301752"/>
          </a:xfrm>
          <a:prstGeom prst="roundRect">
            <a:avLst>
              <a:gd name="adj" fmla="val 15152"/>
            </a:avLst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2194560" y="1965960"/>
            <a:ext cx="1737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91440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Massive Transfusion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in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Trauma Patients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572000" y="3291840"/>
            <a:ext cx="4206240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572000" y="340156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ABC Score with machine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regression models</a:t>
            </a:r>
            <a:endParaRPr lang="en-US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8290E-24CF-6540-1E49-9BE02B2BEDC1}"/>
              </a:ext>
            </a:extLst>
          </p:cNvPr>
          <p:cNvSpPr txBox="1"/>
          <p:nvPr/>
        </p:nvSpPr>
        <p:spPr>
          <a:xfrm>
            <a:off x="7893267" y="4374922"/>
            <a:ext cx="11508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 Spektor</a:t>
            </a:r>
            <a:endParaRPr lang="LID4096" sz="800" dirty="0">
              <a:solidFill>
                <a:srgbClr val="85B7E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9F296-E5BE-0A39-7EDC-EB640D0FD9A4}"/>
              </a:ext>
            </a:extLst>
          </p:cNvPr>
          <p:cNvSpPr txBox="1"/>
          <p:nvPr/>
        </p:nvSpPr>
        <p:spPr>
          <a:xfrm>
            <a:off x="7893268" y="4535214"/>
            <a:ext cx="11508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Aysha</a:t>
            </a:r>
            <a:r>
              <a:rPr lang="en-US" sz="800" dirty="0">
                <a:solidFill>
                  <a:schemeClr val="bg1"/>
                </a:solidFill>
              </a:rPr>
              <a:t> </a:t>
            </a:r>
            <a:r>
              <a:rPr lang="en-US" sz="800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Azaizeh</a:t>
            </a:r>
            <a:endParaRPr lang="LID4096" sz="800" dirty="0">
              <a:solidFill>
                <a:srgbClr val="85B7E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547BB8-2AC3-A422-2167-BE7A475460AD}"/>
              </a:ext>
            </a:extLst>
          </p:cNvPr>
          <p:cNvSpPr txBox="1"/>
          <p:nvPr/>
        </p:nvSpPr>
        <p:spPr>
          <a:xfrm>
            <a:off x="7893269" y="4708599"/>
            <a:ext cx="11508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Yuliana</a:t>
            </a:r>
            <a:r>
              <a:rPr lang="en-US" dirty="0"/>
              <a:t> </a:t>
            </a:r>
            <a:r>
              <a:rPr lang="en-US" dirty="0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Vainshtein</a:t>
            </a:r>
            <a:endParaRPr lang="LID4096" dirty="0">
              <a:solidFill>
                <a:srgbClr val="85B7E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—  PROBLEM DEFINITION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are we solving?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307854"/>
            <a:ext cx="8412480" cy="1157031"/>
          </a:xfrm>
          <a:prstGeom prst="roundRect">
            <a:avLst>
              <a:gd name="adj" fmla="val 7619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endParaRPr lang="en-US" sz="12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0939" y="1378745"/>
            <a:ext cx="8092440" cy="10311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" sz="1100" b="1" dirty="0">
                <a:solidFill>
                  <a:schemeClr val="bg1"/>
                </a:solidFill>
              </a:rPr>
              <a:t>Why is early prediction of Massive Transfusion important?</a:t>
            </a:r>
          </a:p>
          <a:p>
            <a:r>
              <a:rPr lang="" sz="1100" dirty="0">
                <a:solidFill>
                  <a:srgbClr val="00B0F0"/>
                </a:solidFill>
              </a:rPr>
              <a:t>Massive hemorrhage is one of the leading causes of preventable death in trauma patients.</a:t>
            </a:r>
          </a:p>
          <a:p>
            <a:r>
              <a:rPr lang="" sz="1100" dirty="0">
                <a:solidFill>
                  <a:srgbClr val="00B0F0"/>
                </a:solidFill>
              </a:rPr>
              <a:t>When a severely injured patient arrives at the Emergency Department, the trauma team has only a few minutes to decide whether to activate the Massive Transfusion Protocol (MTP).</a:t>
            </a:r>
          </a:p>
          <a:p>
            <a:r>
              <a:rPr lang="" sz="1100" dirty="0">
                <a:solidFill>
                  <a:srgbClr val="00B0F0"/>
                </a:solidFill>
              </a:rPr>
              <a:t>An incorrect decision can have serious consequences:</a:t>
            </a:r>
          </a:p>
          <a:p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66928" y="29077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5982"/>
            <a:ext cx="8412480" cy="816602"/>
          </a:xfrm>
          <a:prstGeom prst="roundRect">
            <a:avLst>
              <a:gd name="adj" fmla="val 8163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17" name="Text 15"/>
          <p:cNvSpPr/>
          <p:nvPr/>
        </p:nvSpPr>
        <p:spPr>
          <a:xfrm>
            <a:off x="365760" y="3909531"/>
            <a:ext cx="30501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" sz="1100" b="1" dirty="0">
                <a:solidFill>
                  <a:schemeClr val="bg1"/>
                </a:solidFill>
              </a:rPr>
              <a:t> Unnecessary activation</a:t>
            </a:r>
          </a:p>
          <a:p>
            <a:r>
              <a:rPr lang="" sz="1100" dirty="0">
                <a:solidFill>
                  <a:srgbClr val="00B0F0"/>
                </a:solidFill>
              </a:rPr>
              <a:t> -  Wasted blood products </a:t>
            </a:r>
          </a:p>
          <a:p>
            <a:r>
              <a:rPr lang="" sz="1100" dirty="0">
                <a:solidFill>
                  <a:srgbClr val="00B0F0"/>
                </a:solidFill>
              </a:rPr>
              <a:t> -  Increased hospital workload </a:t>
            </a:r>
          </a:p>
          <a:p>
            <a:r>
              <a:rPr lang="" sz="1100" dirty="0">
                <a:solidFill>
                  <a:srgbClr val="00B0F0"/>
                </a:solidFill>
              </a:rPr>
              <a:t> -  Transfusion-related complications</a:t>
            </a:r>
          </a:p>
          <a:p>
            <a:endParaRPr lang="en-US" sz="12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5780" y="390475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C2AFBEE5-4396-908B-5617-8649C8D9235D}"/>
              </a:ext>
            </a:extLst>
          </p:cNvPr>
          <p:cNvSpPr/>
          <p:nvPr/>
        </p:nvSpPr>
        <p:spPr>
          <a:xfrm>
            <a:off x="365760" y="2555956"/>
            <a:ext cx="8412480" cy="859590"/>
          </a:xfrm>
          <a:prstGeom prst="roundRect">
            <a:avLst>
              <a:gd name="adj" fmla="val 11175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r>
              <a:rPr lang="" sz="1100" b="1" dirty="0">
                <a:solidFill>
                  <a:schemeClr val="bg1"/>
                </a:solidFill>
              </a:rPr>
              <a:t>Delayed activation</a:t>
            </a:r>
          </a:p>
          <a:p>
            <a:r>
              <a:rPr lang="" sz="1100" dirty="0">
                <a:solidFill>
                  <a:srgbClr val="00B0F0"/>
                </a:solidFill>
              </a:rPr>
              <a:t>-  Ongoing hemorrhage </a:t>
            </a:r>
          </a:p>
          <a:p>
            <a:r>
              <a:rPr lang="" sz="1100" dirty="0">
                <a:solidFill>
                  <a:srgbClr val="00B0F0"/>
                </a:solidFill>
              </a:rPr>
              <a:t>-  Delayed blood preparation </a:t>
            </a:r>
          </a:p>
          <a:p>
            <a:r>
              <a:rPr lang="" sz="1100" dirty="0">
                <a:solidFill>
                  <a:srgbClr val="00B0F0"/>
                </a:solidFill>
              </a:rPr>
              <a:t>-  Increased mortality</a:t>
            </a:r>
          </a:p>
          <a:p>
            <a:endParaRPr lang="" sz="1100" dirty="0">
              <a:solidFill>
                <a:srgbClr val="00B0F0"/>
              </a:solidFill>
            </a:endParaRPr>
          </a:p>
        </p:txBody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B5D9B421-CD6C-A9F5-7505-F4A0292B264A}"/>
              </a:ext>
            </a:extLst>
          </p:cNvPr>
          <p:cNvSpPr/>
          <p:nvPr/>
        </p:nvSpPr>
        <p:spPr>
          <a:xfrm>
            <a:off x="365760" y="4453021"/>
            <a:ext cx="8412480" cy="560413"/>
          </a:xfrm>
          <a:prstGeom prst="roundRect">
            <a:avLst>
              <a:gd name="adj" fmla="val 8163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r>
              <a:rPr lang="" sz="1100" b="1" dirty="0">
                <a:solidFill>
                  <a:schemeClr val="bg1"/>
                </a:solidFill>
              </a:rPr>
              <a:t>Clinical challenge</a:t>
            </a:r>
          </a:p>
          <a:p>
            <a:r>
              <a:rPr lang="" sz="1100" dirty="0">
                <a:solidFill>
                  <a:srgbClr val="00B0F0"/>
                </a:solidFill>
              </a:rPr>
              <a:t> The decision must be made rapidly, using only the information available immediately after patient admission</a:t>
            </a:r>
            <a:endParaRPr lang="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">
            <a:extLst>
              <a:ext uri="{FF2B5EF4-FFF2-40B4-BE49-F238E27FC236}">
                <a16:creationId xmlns:a16="http://schemas.microsoft.com/office/drawing/2014/main" id="{845226EA-29A7-5DE0-EDFB-6D2ABE0CBF25}"/>
              </a:ext>
            </a:extLst>
          </p:cNvPr>
          <p:cNvSpPr/>
          <p:nvPr/>
        </p:nvSpPr>
        <p:spPr>
          <a:xfrm>
            <a:off x="378372" y="4319421"/>
            <a:ext cx="8534400" cy="568047"/>
          </a:xfrm>
          <a:prstGeom prst="roundRect">
            <a:avLst>
              <a:gd name="adj" fmla="val 2078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r>
              <a:rPr lang="en-US" sz="1100" dirty="0">
                <a:solidFill>
                  <a:srgbClr val="00B0F0"/>
                </a:solidFill>
              </a:rPr>
              <a:t>Future Vision If validated in clinical practice, the system could be integrated into hospital information systems and expanded to additional hospitals, providing standardized decision support for trauma care.</a:t>
            </a:r>
            <a:endParaRPr lang="LID4096" sz="1100" dirty="0">
              <a:solidFill>
                <a:srgbClr val="00B0F0"/>
              </a:solidFill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055AC3C-F17C-FAE4-21B2-D3B30774BF1B}"/>
              </a:ext>
            </a:extLst>
          </p:cNvPr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—  PROBLEM DEFINITION</a:t>
            </a:r>
            <a:endParaRPr lang="en-US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0683C-7D60-BB63-3C0B-010546E42FF8}"/>
              </a:ext>
            </a:extLst>
          </p:cNvPr>
          <p:cNvSpPr txBox="1"/>
          <p:nvPr/>
        </p:nvSpPr>
        <p:spPr>
          <a:xfrm flipH="1">
            <a:off x="457200" y="487848"/>
            <a:ext cx="33265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2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Proposed Solution</a:t>
            </a:r>
            <a:endParaRPr lang="LID4096" sz="26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EA010C1-7E75-9817-A6C4-A5AE306BC225}"/>
              </a:ext>
            </a:extLst>
          </p:cNvPr>
          <p:cNvSpPr/>
          <p:nvPr/>
        </p:nvSpPr>
        <p:spPr>
          <a:xfrm>
            <a:off x="378371" y="1397876"/>
            <a:ext cx="8534399" cy="2575192"/>
          </a:xfrm>
          <a:prstGeom prst="roundRect">
            <a:avLst>
              <a:gd name="adj" fmla="val 2078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chemeClr val="bg1"/>
                </a:solidFill>
              </a:rPr>
              <a:t>We propose a Machine Learning Clinical Decision Support System integrated into the Emergency Department.</a:t>
            </a: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chemeClr val="bg1"/>
                </a:solidFill>
              </a:rPr>
              <a:t>Immediately after receiving patient’s first measurements and lab results, the system analyzes routinely available clinical parameters and estimates the probability of Massive Transfusion within seconds.</a:t>
            </a:r>
          </a:p>
          <a:p>
            <a:pPr>
              <a:lnSpc>
                <a:spcPct val="150000"/>
              </a:lnSpc>
            </a:pPr>
            <a:endParaRPr lang="en-US" sz="11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chemeClr val="bg1"/>
                </a:solidFill>
              </a:rPr>
              <a:t> If a high-risk patient is identified, the system can support the clinical workflow by: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100" dirty="0">
                <a:solidFill>
                  <a:srgbClr val="00B0F0"/>
                </a:solidFill>
              </a:rPr>
              <a:t>Alerting the trauma team to consider early Massive Transfusion Protocol activation.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100" dirty="0">
                <a:solidFill>
                  <a:srgbClr val="00B0F0"/>
                </a:solidFill>
              </a:rPr>
              <a:t>Notifying the blood bank that blood products may soon be required, allowing earlier preparation and logistics.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100" dirty="0">
                <a:solidFill>
                  <a:srgbClr val="00B0F0"/>
                </a:solidFill>
              </a:rPr>
              <a:t>Supporting faster, more consistent clinical decision - making.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100" dirty="0">
                <a:solidFill>
                  <a:srgbClr val="00B0F0"/>
                </a:solidFill>
              </a:rPr>
              <a:t>Optimizing the use of limited blood resources.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ACEDDA3-CBD6-7592-149B-57016A145FDC}"/>
              </a:ext>
            </a:extLst>
          </p:cNvPr>
          <p:cNvSpPr/>
          <p:nvPr/>
        </p:nvSpPr>
        <p:spPr>
          <a:xfrm>
            <a:off x="378370" y="1170432"/>
            <a:ext cx="8534399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2752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D042EC29-B122-2343-82E8-37D976A100D0}"/>
              </a:ext>
            </a:extLst>
          </p:cNvPr>
          <p:cNvSpPr txBox="1"/>
          <p:nvPr/>
        </p:nvSpPr>
        <p:spPr>
          <a:xfrm>
            <a:off x="271168" y="463572"/>
            <a:ext cx="82296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Objectives &amp; Evaluation Metrics</a:t>
            </a:r>
          </a:p>
          <a:p>
            <a:pPr>
              <a:buNone/>
            </a:pPr>
            <a:r>
              <a:rPr lang="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</a:t>
            </a:r>
          </a:p>
          <a:p>
            <a:pPr>
              <a:buNone/>
            </a:pPr>
            <a:endParaRPr lang="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" sz="1200" dirty="0">
                <a:solidFill>
                  <a:schemeClr val="bg1"/>
                </a:solidFill>
              </a:rPr>
              <a:t>Develop a machine learning model that accurately predicts whether a trauma patient will require Massive Transfusion using data available immediately after admission.</a:t>
            </a:r>
          </a:p>
          <a:p>
            <a:pPr>
              <a:buNone/>
            </a:pPr>
            <a:endParaRPr lang="" sz="1200" dirty="0">
              <a:solidFill>
                <a:schemeClr val="bg1"/>
              </a:solidFill>
            </a:endParaRPr>
          </a:p>
          <a:p>
            <a:pPr>
              <a:buNone/>
            </a:pPr>
            <a:endParaRPr lang="" sz="1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" sz="1100" dirty="0"/>
          </a:p>
          <a:p>
            <a:pPr>
              <a:buFont typeface="Arial" panose="020B0604020202020204" pitchFamily="34" charset="0"/>
              <a:buChar char="•"/>
            </a:pPr>
            <a:endParaRPr lang="" sz="1100" dirty="0"/>
          </a:p>
          <a:p>
            <a:pPr>
              <a:buFont typeface="Arial" panose="020B0604020202020204" pitchFamily="34" charset="0"/>
              <a:buChar char="•"/>
            </a:pPr>
            <a:endParaRPr lang="" sz="1100" dirty="0"/>
          </a:p>
          <a:p>
            <a:pPr>
              <a:buFont typeface="Arial" panose="020B0604020202020204" pitchFamily="34" charset="0"/>
              <a:buChar char="•"/>
            </a:pPr>
            <a:endParaRPr lang="" sz="1100" dirty="0"/>
          </a:p>
          <a:p>
            <a:pPr>
              <a:buFont typeface="Arial" panose="020B0604020202020204" pitchFamily="34" charset="0"/>
              <a:buChar char="•"/>
            </a:pPr>
            <a:endParaRPr lang="" sz="1100" dirty="0"/>
          </a:p>
          <a:p>
            <a:pPr>
              <a:buNone/>
            </a:pPr>
            <a:r>
              <a:rPr lang="" sz="1100" b="1" dirty="0">
                <a:solidFill>
                  <a:schemeClr val="bg1"/>
                </a:solidFill>
              </a:rPr>
              <a:t>Target Performance</a:t>
            </a:r>
          </a:p>
          <a:p>
            <a:pPr indent="-171450">
              <a:buFont typeface="Arial" panose="020B0604020202020204" pitchFamily="34" charset="0"/>
              <a:buChar char="•"/>
            </a:pPr>
            <a:r>
              <a:rPr lang="" sz="1100" dirty="0">
                <a:solidFill>
                  <a:srgbClr val="00B0F0"/>
                </a:solidFill>
              </a:rPr>
              <a:t>ROC-AUC ≥ 0.85 </a:t>
            </a:r>
          </a:p>
          <a:p>
            <a:pPr indent="-171450">
              <a:buFont typeface="Arial" panose="020B0604020202020204" pitchFamily="34" charset="0"/>
              <a:buChar char="•"/>
            </a:pPr>
            <a:r>
              <a:rPr lang="" sz="1100" dirty="0">
                <a:solidFill>
                  <a:srgbClr val="00B0F0"/>
                </a:solidFill>
              </a:rPr>
              <a:t>Recall ≥ 0.80 </a:t>
            </a:r>
          </a:p>
          <a:p>
            <a:pPr indent="-171450">
              <a:buFont typeface="Arial" panose="020B0604020202020204" pitchFamily="34" charset="0"/>
              <a:buChar char="•"/>
            </a:pPr>
            <a:r>
              <a:rPr lang="" sz="1100" dirty="0">
                <a:solidFill>
                  <a:srgbClr val="00B0F0"/>
                </a:solidFill>
              </a:rPr>
              <a:t>Specificity ≥ 0.75 </a:t>
            </a:r>
          </a:p>
          <a:p>
            <a:pPr>
              <a:buNone/>
            </a:pPr>
            <a:endParaRPr lang="" sz="1100" dirty="0"/>
          </a:p>
          <a:p>
            <a:pPr>
              <a:buNone/>
            </a:pPr>
            <a:r>
              <a:rPr lang="" sz="1100" dirty="0"/>
              <a:t> </a:t>
            </a:r>
            <a:r>
              <a:rPr lang="" sz="1100" b="1" dirty="0">
                <a:solidFill>
                  <a:schemeClr val="bg1"/>
                </a:solidFill>
              </a:rPr>
              <a:t>ABC Score</a:t>
            </a:r>
            <a:endParaRPr lang="ru-RU" sz="11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" sz="1100" dirty="0">
                <a:solidFill>
                  <a:srgbClr val="00B0F0"/>
                </a:solidFill>
              </a:rPr>
              <a:t>Penetrating mechanism of injury</a:t>
            </a:r>
            <a:r>
              <a:rPr lang="ru-RU" sz="1100" dirty="0">
                <a:solidFill>
                  <a:srgbClr val="00B0F0"/>
                </a:solidFill>
              </a:rPr>
              <a:t> </a:t>
            </a:r>
          </a:p>
          <a:p>
            <a:r>
              <a:rPr lang="" sz="1100" dirty="0">
                <a:solidFill>
                  <a:srgbClr val="00B0F0"/>
                </a:solidFill>
              </a:rPr>
              <a:t>Systolic Blood Pressure (SBP) ≤ 90 mmHg</a:t>
            </a:r>
            <a:endParaRPr lang="ru-RU" sz="1100" dirty="0">
              <a:solidFill>
                <a:srgbClr val="00B0F0"/>
              </a:solidFill>
            </a:endParaRPr>
          </a:p>
          <a:p>
            <a:r>
              <a:rPr lang="" sz="1100" dirty="0">
                <a:solidFill>
                  <a:srgbClr val="00B0F0"/>
                </a:solidFill>
              </a:rPr>
              <a:t>Heart Rate (HR) ≥ 120 bpm</a:t>
            </a:r>
          </a:p>
          <a:p>
            <a:r>
              <a:rPr lang="" sz="1100" dirty="0">
                <a:solidFill>
                  <a:srgbClr val="00B0F0"/>
                </a:solidFill>
              </a:rPr>
              <a:t>Positive FAST examination</a:t>
            </a:r>
            <a:endParaRPr lang="ru-RU" sz="1100" dirty="0">
              <a:solidFill>
                <a:srgbClr val="00B0F0"/>
              </a:solidFill>
            </a:endParaRPr>
          </a:p>
          <a:p>
            <a:r>
              <a:rPr lang="" sz="1100" b="1" dirty="0">
                <a:solidFill>
                  <a:schemeClr val="bg1"/>
                </a:solidFill>
              </a:rPr>
              <a:t>ABC Score ≥ 2 </a:t>
            </a:r>
            <a:r>
              <a:rPr lang="" sz="1100" dirty="0">
                <a:solidFill>
                  <a:srgbClr val="00B0F0"/>
                </a:solidFill>
              </a:rPr>
              <a:t>→ High risk of Massive Transfusion; activation of the Massive Transfusion Protocol (MTP) is recommended. ABC Score &lt; 2 → Lower likelihood of requiring Massive Transfusion.</a:t>
            </a:r>
          </a:p>
          <a:p>
            <a:endParaRPr lang="" sz="1100" dirty="0">
              <a:solidFill>
                <a:srgbClr val="00B0F0"/>
              </a:solidFill>
            </a:endParaRPr>
          </a:p>
          <a:p>
            <a:endParaRPr lang="" sz="1200" dirty="0"/>
          </a:p>
          <a:p>
            <a:pPr>
              <a:buNone/>
            </a:pPr>
            <a:endParaRPr lang="ru-RU" sz="1200" dirty="0"/>
          </a:p>
          <a:p>
            <a:pPr>
              <a:buNone/>
            </a:pPr>
            <a:endParaRPr lang="" sz="1100" dirty="0">
              <a:solidFill>
                <a:srgbClr val="00B0F0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355250" y="26240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—  </a:t>
            </a:r>
            <a:r>
              <a:rPr lang="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scoring to be used and a reasonable target</a:t>
            </a:r>
            <a:endParaRPr lang="en-US" sz="800" b="1" kern="0" spc="300" dirty="0">
              <a:solidFill>
                <a:srgbClr val="378AD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199" y="475488"/>
            <a:ext cx="8305795" cy="5976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0" y="21305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1638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415137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786500-0972-E9A9-F8B0-8D2D5083E94B}"/>
              </a:ext>
            </a:extLst>
          </p:cNvPr>
          <p:cNvSpPr txBox="1"/>
          <p:nvPr/>
        </p:nvSpPr>
        <p:spPr>
          <a:xfrm>
            <a:off x="457199" y="1833575"/>
            <a:ext cx="15234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" sz="1100" b="1" dirty="0">
                <a:solidFill>
                  <a:schemeClr val="bg1"/>
                </a:solidFill>
              </a:rPr>
              <a:t>Primary metric</a:t>
            </a:r>
          </a:p>
          <a:p>
            <a:pPr>
              <a:buNone/>
            </a:pPr>
            <a:r>
              <a:rPr lang="" sz="1100" dirty="0">
                <a:solidFill>
                  <a:srgbClr val="00B0F0"/>
                </a:solidFill>
              </a:rPr>
              <a:t>ROC-AUC </a:t>
            </a:r>
          </a:p>
          <a:p>
            <a:endParaRPr lang="LID4096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8342BD-0827-B964-CA87-A9714A91B3DA}"/>
              </a:ext>
            </a:extLst>
          </p:cNvPr>
          <p:cNvSpPr txBox="1"/>
          <p:nvPr/>
        </p:nvSpPr>
        <p:spPr>
          <a:xfrm>
            <a:off x="2494104" y="1842733"/>
            <a:ext cx="2509872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1100" b="1" dirty="0">
                <a:solidFill>
                  <a:schemeClr val="bg1"/>
                </a:solidFill>
              </a:rPr>
              <a:t>Secondary metrics</a:t>
            </a:r>
            <a:endParaRPr lang="" sz="1100" dirty="0">
              <a:solidFill>
                <a:srgbClr val="00B0F0"/>
              </a:solidFill>
            </a:endParaRPr>
          </a:p>
          <a:p>
            <a:r>
              <a:rPr lang="" sz="1100" dirty="0">
                <a:solidFill>
                  <a:srgbClr val="00B0F0"/>
                </a:solidFill>
              </a:rPr>
              <a:t>Recall (Sensitivity) </a:t>
            </a:r>
          </a:p>
          <a:p>
            <a:r>
              <a:rPr lang="" sz="1100" dirty="0">
                <a:solidFill>
                  <a:srgbClr val="00B0F0"/>
                </a:solidFill>
              </a:rPr>
              <a:t>Specificity </a:t>
            </a:r>
          </a:p>
          <a:p>
            <a:r>
              <a:rPr lang="" sz="1100" dirty="0">
                <a:solidFill>
                  <a:srgbClr val="00B0F0"/>
                </a:solidFill>
              </a:rPr>
              <a:t>Precision </a:t>
            </a:r>
          </a:p>
          <a:p>
            <a:r>
              <a:rPr lang="" sz="1100" dirty="0">
                <a:solidFill>
                  <a:srgbClr val="00B0F0"/>
                </a:solidFill>
              </a:rPr>
              <a:t>F1-score </a:t>
            </a:r>
          </a:p>
          <a:p>
            <a:endParaRPr lang="LID4096" dirty="0"/>
          </a:p>
        </p:txBody>
      </p:sp>
      <p:sp>
        <p:nvSpPr>
          <p:cNvPr id="4" name="Shape 2"/>
          <p:cNvSpPr/>
          <p:nvPr/>
        </p:nvSpPr>
        <p:spPr>
          <a:xfrm>
            <a:off x="457199" y="121121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C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7AC83-B6B6-16AC-FE80-F2616CDA8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A82E15-EA28-0472-C32D-74029EEEE3F5}"/>
              </a:ext>
            </a:extLst>
          </p:cNvPr>
          <p:cNvSpPr/>
          <p:nvPr/>
        </p:nvSpPr>
        <p:spPr>
          <a:xfrm>
            <a:off x="457200" y="256032"/>
            <a:ext cx="8229599" cy="33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—  </a:t>
            </a:r>
            <a:r>
              <a:rPr lang="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data </a:t>
            </a:r>
            <a:endParaRPr lang="en-US" sz="800" b="1" kern="0" spc="300" dirty="0">
              <a:solidFill>
                <a:srgbClr val="378AD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73AFB0-5FC8-03AE-9BA6-24504FA7B626}"/>
              </a:ext>
            </a:extLst>
          </p:cNvPr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what we need vs what we have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A1F9F22-EF10-A3F9-8D14-679D56CCC571}"/>
              </a:ext>
            </a:extLst>
          </p:cNvPr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FA8AF90-D814-07B4-18F7-EE8C32A2417D}"/>
              </a:ext>
            </a:extLst>
          </p:cNvPr>
          <p:cNvSpPr/>
          <p:nvPr/>
        </p:nvSpPr>
        <p:spPr>
          <a:xfrm>
            <a:off x="383470" y="1841502"/>
            <a:ext cx="3858769" cy="2510316"/>
          </a:xfrm>
          <a:prstGeom prst="roundRect">
            <a:avLst>
              <a:gd name="adj" fmla="val 2078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5F8ADA6-049A-A3C1-95C5-E1972C004423}"/>
              </a:ext>
            </a:extLst>
          </p:cNvPr>
          <p:cNvSpPr/>
          <p:nvPr/>
        </p:nvSpPr>
        <p:spPr>
          <a:xfrm>
            <a:off x="509491" y="1849989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features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97D896-E0F4-C910-CFF2-FD568AD0221F}"/>
              </a:ext>
            </a:extLst>
          </p:cNvPr>
          <p:cNvSpPr/>
          <p:nvPr/>
        </p:nvSpPr>
        <p:spPr>
          <a:xfrm>
            <a:off x="509491" y="2200867"/>
            <a:ext cx="3581926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9B4806-3A82-36C6-E7F6-2E1FBEB99DBC}"/>
              </a:ext>
            </a:extLst>
          </p:cNvPr>
          <p:cNvSpPr/>
          <p:nvPr/>
        </p:nvSpPr>
        <p:spPr>
          <a:xfrm>
            <a:off x="566928" y="2618994"/>
            <a:ext cx="3749040" cy="1354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53FDA2D-21F8-4B5D-8949-2541C5374FCB}"/>
              </a:ext>
            </a:extLst>
          </p:cNvPr>
          <p:cNvSpPr/>
          <p:nvPr/>
        </p:nvSpPr>
        <p:spPr>
          <a:xfrm>
            <a:off x="4572000" y="1849989"/>
            <a:ext cx="4103659" cy="2501829"/>
          </a:xfrm>
          <a:prstGeom prst="roundRect">
            <a:avLst>
              <a:gd name="adj" fmla="val 2078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9101866-805D-A16D-9488-615C600DA636}"/>
              </a:ext>
            </a:extLst>
          </p:cNvPr>
          <p:cNvSpPr/>
          <p:nvPr/>
        </p:nvSpPr>
        <p:spPr>
          <a:xfrm>
            <a:off x="4709158" y="1880827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Dataset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1064D56-BD83-E13A-EEB8-6B9F430E2064}"/>
              </a:ext>
            </a:extLst>
          </p:cNvPr>
          <p:cNvSpPr/>
          <p:nvPr/>
        </p:nvSpPr>
        <p:spPr>
          <a:xfrm>
            <a:off x="4754878" y="2200867"/>
            <a:ext cx="3749040" cy="0"/>
          </a:xfrm>
          <a:prstGeom prst="line">
            <a:avLst/>
          </a:prstGeom>
          <a:noFill/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BEC6A8A-3E78-33B2-4B12-2919FEEED67B}"/>
              </a:ext>
            </a:extLst>
          </p:cNvPr>
          <p:cNvSpPr/>
          <p:nvPr/>
        </p:nvSpPr>
        <p:spPr>
          <a:xfrm>
            <a:off x="484632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E4BF40F-81E2-4C16-5B4B-CBF831E9CDCB}"/>
              </a:ext>
            </a:extLst>
          </p:cNvPr>
          <p:cNvSpPr/>
          <p:nvPr/>
        </p:nvSpPr>
        <p:spPr>
          <a:xfrm>
            <a:off x="4846320" y="21305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7A66A78-46FC-78CA-5605-6B2EAF4FD565}"/>
              </a:ext>
            </a:extLst>
          </p:cNvPr>
          <p:cNvSpPr/>
          <p:nvPr/>
        </p:nvSpPr>
        <p:spPr>
          <a:xfrm>
            <a:off x="4846320" y="2907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D6B665D-2FB3-74B3-448A-E4E694E94FEF}"/>
              </a:ext>
            </a:extLst>
          </p:cNvPr>
          <p:cNvSpPr/>
          <p:nvPr/>
        </p:nvSpPr>
        <p:spPr>
          <a:xfrm>
            <a:off x="4846320" y="31638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4546466-BBB2-BED3-300B-68721251C4A6}"/>
              </a:ext>
            </a:extLst>
          </p:cNvPr>
          <p:cNvSpPr/>
          <p:nvPr/>
        </p:nvSpPr>
        <p:spPr>
          <a:xfrm>
            <a:off x="4846320" y="38953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21E22C2-0430-8468-6BA5-4863BB6A325F}"/>
              </a:ext>
            </a:extLst>
          </p:cNvPr>
          <p:cNvSpPr/>
          <p:nvPr/>
        </p:nvSpPr>
        <p:spPr>
          <a:xfrm>
            <a:off x="4753460" y="2231705"/>
            <a:ext cx="3703319" cy="1507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" sz="1100" dirty="0">
                <a:solidFill>
                  <a:srgbClr val="00B0F0"/>
                </a:solidFill>
              </a:rPr>
              <a:t>Age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" sz="1100" dirty="0">
                <a:solidFill>
                  <a:srgbClr val="00B0F0"/>
                </a:solidFill>
              </a:rPr>
              <a:t>Gender</a:t>
            </a:r>
          </a:p>
          <a:p>
            <a:pPr>
              <a:lnSpc>
                <a:spcPct val="150000"/>
              </a:lnSpc>
            </a:pPr>
            <a:r>
              <a:rPr lang="" sz="1100" dirty="0">
                <a:solidFill>
                  <a:srgbClr val="00B0F0"/>
                </a:solidFill>
              </a:rPr>
              <a:t>-    Systolic Blood Pressure (SBP) 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" sz="1100" dirty="0">
                <a:solidFill>
                  <a:srgbClr val="00B0F0"/>
                </a:solidFill>
              </a:rPr>
              <a:t>Heart Rate (HR)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" sz="1100" dirty="0">
                <a:solidFill>
                  <a:srgbClr val="00B0F0"/>
                </a:solidFill>
              </a:rPr>
              <a:t>Respiratory Rate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" sz="1100" dirty="0">
                <a:solidFill>
                  <a:srgbClr val="00B0F0"/>
                </a:solidFill>
              </a:rPr>
              <a:t>Mechanism of Injury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" sz="1100" dirty="0">
                <a:solidFill>
                  <a:srgbClr val="00B0F0"/>
                </a:solidFill>
              </a:rPr>
              <a:t>GCS Score 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" sz="1100" dirty="0">
                <a:solidFill>
                  <a:srgbClr val="00B0F0"/>
                </a:solidFill>
              </a:rPr>
              <a:t>Units Transfused</a:t>
            </a:r>
            <a:endParaRPr lang="LID4096" sz="1100" dirty="0">
              <a:solidFill>
                <a:srgbClr val="00B0F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B7B605-9E31-6DC5-A238-A8FA1C5D4B35}"/>
              </a:ext>
            </a:extLst>
          </p:cNvPr>
          <p:cNvSpPr txBox="1"/>
          <p:nvPr/>
        </p:nvSpPr>
        <p:spPr>
          <a:xfrm>
            <a:off x="468341" y="1271684"/>
            <a:ext cx="844506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CRASH-2</a:t>
            </a:r>
            <a:r>
              <a:rPr lang="en-US" sz="1050" dirty="0"/>
              <a:t> </a:t>
            </a: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Trauma Dataset </a:t>
            </a:r>
          </a:p>
          <a:p>
            <a:r>
              <a:rPr lang="en-US" sz="1100" dirty="0">
                <a:solidFill>
                  <a:srgbClr val="00B0F0"/>
                </a:solidFill>
              </a:rPr>
              <a:t>Source: international multicenter trauma dataset derived from the CRASH-2 clinical trial.</a:t>
            </a:r>
            <a:endParaRPr lang="LID4096" sz="1100" dirty="0">
              <a:solidFill>
                <a:srgbClr val="00B0F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81104C-06A3-DF42-2D17-D1B9E23ED4D2}"/>
              </a:ext>
            </a:extLst>
          </p:cNvPr>
          <p:cNvSpPr txBox="1"/>
          <p:nvPr/>
        </p:nvSpPr>
        <p:spPr>
          <a:xfrm>
            <a:off x="468341" y="2200875"/>
            <a:ext cx="3703318" cy="1335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" sz="1100" dirty="0">
                <a:solidFill>
                  <a:srgbClr val="00B0F0"/>
                </a:solidFill>
              </a:rPr>
              <a:t>-    Systolic Blood Pressure (SBP) </a:t>
            </a:r>
          </a:p>
          <a:p>
            <a:pPr>
              <a:lnSpc>
                <a:spcPct val="150000"/>
              </a:lnSpc>
            </a:pPr>
            <a:r>
              <a:rPr lang="" sz="1100" dirty="0">
                <a:solidFill>
                  <a:srgbClr val="00B0F0"/>
                </a:solidFill>
              </a:rPr>
              <a:t>-    Heart Rate (HR)</a:t>
            </a:r>
          </a:p>
          <a:p>
            <a:pPr>
              <a:lnSpc>
                <a:spcPct val="150000"/>
              </a:lnSpc>
            </a:pPr>
            <a:r>
              <a:rPr lang="" sz="1100" dirty="0">
                <a:solidFill>
                  <a:srgbClr val="00B0F0"/>
                </a:solidFill>
              </a:rPr>
              <a:t>-    Lactate </a:t>
            </a:r>
          </a:p>
          <a:p>
            <a:pPr>
              <a:lnSpc>
                <a:spcPct val="150000"/>
              </a:lnSpc>
            </a:pPr>
            <a:r>
              <a:rPr lang="" sz="1100" dirty="0">
                <a:solidFill>
                  <a:srgbClr val="00B0F0"/>
                </a:solidFill>
              </a:rPr>
              <a:t>-    Arterial Base Excess (ABE)</a:t>
            </a:r>
          </a:p>
          <a:p>
            <a:pPr>
              <a:lnSpc>
                <a:spcPct val="150000"/>
              </a:lnSpc>
            </a:pPr>
            <a:r>
              <a:rPr lang="" sz="1100" dirty="0">
                <a:solidFill>
                  <a:srgbClr val="00B0F0"/>
                </a:solidFill>
              </a:rPr>
              <a:t>-     Mechanism of Injury</a:t>
            </a:r>
            <a:endParaRPr lang="LID4096" sz="11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697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F35808-2036-5339-FFA1-CB8CBEE61C85}"/>
              </a:ext>
            </a:extLst>
          </p:cNvPr>
          <p:cNvSpPr txBox="1"/>
          <p:nvPr/>
        </p:nvSpPr>
        <p:spPr>
          <a:xfrm>
            <a:off x="336330" y="104369"/>
            <a:ext cx="446164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—  </a:t>
            </a:r>
            <a:r>
              <a:rPr lang="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data </a:t>
            </a:r>
            <a:endParaRPr lang="en-US" sz="800" b="1" kern="0" spc="300" dirty="0">
              <a:solidFill>
                <a:srgbClr val="378AD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1DD077-3843-37B2-7305-81EFDB48AB6E}"/>
              </a:ext>
            </a:extLst>
          </p:cNvPr>
          <p:cNvSpPr txBox="1"/>
          <p:nvPr/>
        </p:nvSpPr>
        <p:spPr>
          <a:xfrm>
            <a:off x="336330" y="493986"/>
            <a:ext cx="6758151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2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 Model Features</a:t>
            </a:r>
          </a:p>
          <a:p>
            <a:endParaRPr lang="" sz="12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" sz="12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Selected features</a:t>
            </a:r>
            <a:endParaRPr lang="" sz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" sz="1100" dirty="0">
                <a:solidFill>
                  <a:srgbClr val="00B0F0"/>
                </a:solidFill>
              </a:rPr>
              <a:t>SBP </a:t>
            </a:r>
          </a:p>
          <a:p>
            <a:r>
              <a:rPr lang="" sz="1100" dirty="0">
                <a:solidFill>
                  <a:srgbClr val="00B0F0"/>
                </a:solidFill>
              </a:rPr>
              <a:t>HR </a:t>
            </a:r>
          </a:p>
          <a:p>
            <a:r>
              <a:rPr lang="" sz="1100" dirty="0">
                <a:solidFill>
                  <a:srgbClr val="00B0F0"/>
                </a:solidFill>
              </a:rPr>
              <a:t>Mechanism of Injury </a:t>
            </a:r>
          </a:p>
          <a:p>
            <a:endParaRPr lang="" sz="1100" dirty="0">
              <a:solidFill>
                <a:srgbClr val="00B0F0"/>
              </a:solidFill>
            </a:endParaRPr>
          </a:p>
          <a:p>
            <a:r>
              <a:rPr lang="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Engineered features</a:t>
            </a:r>
          </a:p>
          <a:p>
            <a:r>
              <a:rPr lang="" sz="1100" dirty="0">
                <a:solidFill>
                  <a:srgbClr val="00B0F0"/>
                </a:solidFill>
              </a:rPr>
              <a:t>Shock Index (HR/SBP) </a:t>
            </a:r>
            <a:endParaRPr lang="ru-RU" sz="1100" dirty="0">
              <a:solidFill>
                <a:srgbClr val="00B0F0"/>
              </a:solidFill>
            </a:endParaRPr>
          </a:p>
          <a:p>
            <a:endParaRPr lang="" sz="1100" dirty="0">
              <a:solidFill>
                <a:srgbClr val="00B0F0"/>
              </a:solidFill>
            </a:endParaRPr>
          </a:p>
          <a:p>
            <a:r>
              <a:rPr lang="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Generated variables</a:t>
            </a:r>
          </a:p>
          <a:p>
            <a:r>
              <a:rPr lang="" sz="1100" dirty="0">
                <a:solidFill>
                  <a:srgbClr val="00B0F0"/>
                </a:solidFill>
              </a:rPr>
              <a:t>Lactate </a:t>
            </a:r>
          </a:p>
          <a:p>
            <a:r>
              <a:rPr lang="" sz="1100" dirty="0">
                <a:solidFill>
                  <a:srgbClr val="00B0F0"/>
                </a:solidFill>
              </a:rPr>
              <a:t>Arterial Base Excess (ABE)</a:t>
            </a:r>
            <a:endParaRPr lang="ru-RU" sz="1100" dirty="0">
              <a:solidFill>
                <a:srgbClr val="00B0F0"/>
              </a:solidFill>
            </a:endParaRPr>
          </a:p>
          <a:p>
            <a:endParaRPr lang="ru-RU" sz="1100" dirty="0">
              <a:solidFill>
                <a:srgbClr val="00B0F0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Target variable</a:t>
            </a:r>
          </a:p>
          <a:p>
            <a:r>
              <a:rPr lang="en-US" sz="1100" dirty="0">
                <a:solidFill>
                  <a:srgbClr val="00B0F0"/>
                </a:solidFill>
              </a:rPr>
              <a:t>Massive Transfusion (MT:0/1)</a:t>
            </a:r>
            <a:endParaRPr lang="LID4096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21C6572-9259-D2E7-D5CF-45C7DDFF8D9A}"/>
              </a:ext>
            </a:extLst>
          </p:cNvPr>
          <p:cNvSpPr/>
          <p:nvPr/>
        </p:nvSpPr>
        <p:spPr>
          <a:xfrm>
            <a:off x="457199" y="1001005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51747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C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36B829-08DC-4C92-5730-1646954E7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60C1C0-FD07-385A-524F-946390559EB5}"/>
              </a:ext>
            </a:extLst>
          </p:cNvPr>
          <p:cNvSpPr txBox="1"/>
          <p:nvPr/>
        </p:nvSpPr>
        <p:spPr>
          <a:xfrm>
            <a:off x="336330" y="104369"/>
            <a:ext cx="446164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—  DATA EXPLORATION</a:t>
            </a:r>
            <a:endParaRPr lang="en-US" sz="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A7DCE2C-49F2-EC1F-20D6-F28CD901C198}"/>
              </a:ext>
            </a:extLst>
          </p:cNvPr>
          <p:cNvSpPr/>
          <p:nvPr/>
        </p:nvSpPr>
        <p:spPr>
          <a:xfrm>
            <a:off x="457199" y="1001005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56B7171-581F-4546-9EC7-733DD799E68F}"/>
              </a:ext>
            </a:extLst>
          </p:cNvPr>
          <p:cNvSpPr/>
          <p:nvPr/>
        </p:nvSpPr>
        <p:spPr>
          <a:xfrm>
            <a:off x="390379" y="44805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Overview, Class Distribution &amp; Feature Histograms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E0CF6D3-6FDA-4B0F-1BA8-6B8256A87FE6}"/>
              </a:ext>
            </a:extLst>
          </p:cNvPr>
          <p:cNvSpPr/>
          <p:nvPr/>
        </p:nvSpPr>
        <p:spPr>
          <a:xfrm>
            <a:off x="457199" y="1143000"/>
            <a:ext cx="1371600" cy="804672"/>
          </a:xfrm>
          <a:prstGeom prst="roundRect">
            <a:avLst>
              <a:gd name="adj" fmla="val 10227"/>
            </a:avLst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B5CE950-071C-E627-6D77-E5F32536B63F}"/>
              </a:ext>
            </a:extLst>
          </p:cNvPr>
          <p:cNvSpPr/>
          <p:nvPr/>
        </p:nvSpPr>
        <p:spPr>
          <a:xfrm>
            <a:off x="457199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2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A1A9E31-67F6-7810-1633-00886D7D008C}"/>
              </a:ext>
            </a:extLst>
          </p:cNvPr>
          <p:cNvSpPr/>
          <p:nvPr/>
        </p:nvSpPr>
        <p:spPr>
          <a:xfrm>
            <a:off x="457199" y="1618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9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35E09CB3-01DA-7FA8-1276-F58EC13FBEC4}"/>
              </a:ext>
            </a:extLst>
          </p:cNvPr>
          <p:cNvSpPr/>
          <p:nvPr/>
        </p:nvSpPr>
        <p:spPr>
          <a:xfrm>
            <a:off x="1938527" y="1143000"/>
            <a:ext cx="1371600" cy="804672"/>
          </a:xfrm>
          <a:prstGeom prst="roundRect">
            <a:avLst>
              <a:gd name="adj" fmla="val 10227"/>
            </a:avLst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F71D74C-FBC9-52D1-C9B8-D915D31B58F7}"/>
              </a:ext>
            </a:extLst>
          </p:cNvPr>
          <p:cNvSpPr/>
          <p:nvPr/>
        </p:nvSpPr>
        <p:spPr>
          <a:xfrm>
            <a:off x="1938527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800/200</a:t>
            </a:r>
            <a:endParaRPr lang="en-US" sz="22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EAC8A29-EEBF-B4E5-182E-349320F77670}"/>
              </a:ext>
            </a:extLst>
          </p:cNvPr>
          <p:cNvSpPr/>
          <p:nvPr/>
        </p:nvSpPr>
        <p:spPr>
          <a:xfrm>
            <a:off x="1938527" y="1618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9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F9E8E67A-FC5F-EC07-D68D-58210D1D5FD2}"/>
              </a:ext>
            </a:extLst>
          </p:cNvPr>
          <p:cNvSpPr/>
          <p:nvPr/>
        </p:nvSpPr>
        <p:spPr>
          <a:xfrm>
            <a:off x="411480" y="1856232"/>
            <a:ext cx="1371600" cy="804672"/>
          </a:xfrm>
          <a:prstGeom prst="roundRect">
            <a:avLst>
              <a:gd name="adj" fmla="val 10227"/>
            </a:avLst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7B21054E-998E-8FB9-CC45-5A9DF8AFE5C2}"/>
              </a:ext>
            </a:extLst>
          </p:cNvPr>
          <p:cNvSpPr/>
          <p:nvPr/>
        </p:nvSpPr>
        <p:spPr>
          <a:xfrm>
            <a:off x="457199" y="20848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FB849E9B-4459-282F-6819-965630FA3B1E}"/>
              </a:ext>
            </a:extLst>
          </p:cNvPr>
          <p:cNvSpPr/>
          <p:nvPr/>
        </p:nvSpPr>
        <p:spPr>
          <a:xfrm>
            <a:off x="457199" y="2514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BD9670A6-7BA4-B980-F9CE-A4BFEAA92836}"/>
              </a:ext>
            </a:extLst>
          </p:cNvPr>
          <p:cNvSpPr/>
          <p:nvPr/>
        </p:nvSpPr>
        <p:spPr>
          <a:xfrm>
            <a:off x="1938527" y="2039112"/>
            <a:ext cx="1371600" cy="804672"/>
          </a:xfrm>
          <a:prstGeom prst="roundRect">
            <a:avLst>
              <a:gd name="adj" fmla="val 10227"/>
            </a:avLst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84DF8C17-8724-E0BE-E5B3-24D35AA594C2}"/>
              </a:ext>
            </a:extLst>
          </p:cNvPr>
          <p:cNvSpPr/>
          <p:nvPr/>
        </p:nvSpPr>
        <p:spPr>
          <a:xfrm>
            <a:off x="1938527" y="20848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2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8A0A7CE-B739-D847-48F6-D35DDA5B4625}"/>
              </a:ext>
            </a:extLst>
          </p:cNvPr>
          <p:cNvSpPr/>
          <p:nvPr/>
        </p:nvSpPr>
        <p:spPr>
          <a:xfrm>
            <a:off x="1938527" y="2514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Rate</a:t>
            </a:r>
            <a:endParaRPr lang="en-US" sz="900" dirty="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518BAEF8-931A-C7C0-94A6-227150E11F9D}"/>
              </a:ext>
            </a:extLst>
          </p:cNvPr>
          <p:cNvSpPr/>
          <p:nvPr/>
        </p:nvSpPr>
        <p:spPr>
          <a:xfrm>
            <a:off x="411480" y="28346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000" dirty="0"/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B6DAFF1B-64F9-A21E-C892-5B3D8470E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63240"/>
            <a:ext cx="2971800" cy="2011680"/>
          </a:xfrm>
          <a:prstGeom prst="rect">
            <a:avLst/>
          </a:prstGeom>
        </p:spPr>
      </p:pic>
      <p:sp>
        <p:nvSpPr>
          <p:cNvPr id="36" name="Text 15">
            <a:extLst>
              <a:ext uri="{FF2B5EF4-FFF2-40B4-BE49-F238E27FC236}">
                <a16:creationId xmlns:a16="http://schemas.microsoft.com/office/drawing/2014/main" id="{F23E2E5A-B5D6-6858-97B8-49AC7CF146C6}"/>
              </a:ext>
            </a:extLst>
          </p:cNvPr>
          <p:cNvSpPr/>
          <p:nvPr/>
        </p:nvSpPr>
        <p:spPr>
          <a:xfrm>
            <a:off x="4576572" y="993971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Distributions by MT Class — Histograms</a:t>
            </a:r>
            <a:endParaRPr lang="en-US" sz="1000" dirty="0"/>
          </a:p>
        </p:txBody>
      </p:sp>
      <p:pic>
        <p:nvPicPr>
          <p:cNvPr id="38" name="Image 1" descr="preencoded.png">
            <a:extLst>
              <a:ext uri="{FF2B5EF4-FFF2-40B4-BE49-F238E27FC236}">
                <a16:creationId xmlns:a16="http://schemas.microsoft.com/office/drawing/2014/main" id="{5956EFD1-6C1C-F8F7-67EC-1176ADA3D2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1207008"/>
            <a:ext cx="534924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47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C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7772F-BAAC-F7CA-A07F-628CA4574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F55E3854-D80A-124C-9F06-14E77C38CAF3}"/>
              </a:ext>
            </a:extLst>
          </p:cNvPr>
          <p:cNvSpPr/>
          <p:nvPr/>
        </p:nvSpPr>
        <p:spPr>
          <a:xfrm>
            <a:off x="384047" y="882133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0DD65690-F910-A3A7-23E5-A5B7DBAAC369}"/>
              </a:ext>
            </a:extLst>
          </p:cNvPr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—  DATA EXPLORATION</a:t>
            </a:r>
            <a:endParaRPr lang="en-US" sz="75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9FD7869E-DB0B-2242-1BCE-7B973BA61DBF}"/>
              </a:ext>
            </a:extLst>
          </p:cNvPr>
          <p:cNvSpPr/>
          <p:nvPr/>
        </p:nvSpPr>
        <p:spPr>
          <a:xfrm>
            <a:off x="411480" y="3840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Violin Plots, Correlation Heatmap &amp; EDA Conclusions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170CB3C-9FEB-0F1F-872D-C6DAD56EF9C8}"/>
              </a:ext>
            </a:extLst>
          </p:cNvPr>
          <p:cNvSpPr/>
          <p:nvPr/>
        </p:nvSpPr>
        <p:spPr>
          <a:xfrm>
            <a:off x="301752" y="8941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 Plots — Distribution Shape &amp; Spread</a:t>
            </a:r>
            <a:endParaRPr lang="en-US" sz="10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A1B84893-E89A-1E55-61B5-B1DB70F86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1088136"/>
            <a:ext cx="3657600" cy="2606040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D478B5F1-640A-8248-319B-6C52C0BC79FC}"/>
              </a:ext>
            </a:extLst>
          </p:cNvPr>
          <p:cNvSpPr/>
          <p:nvPr/>
        </p:nvSpPr>
        <p:spPr>
          <a:xfrm>
            <a:off x="3995928" y="882133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Heatmap</a:t>
            </a:r>
            <a:endParaRPr lang="en-US" sz="1000" dirty="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9D76B123-FF57-47D5-0558-025CE8F53B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928" y="1088136"/>
            <a:ext cx="3200400" cy="2606040"/>
          </a:xfrm>
          <a:prstGeom prst="rect">
            <a:avLst/>
          </a:prstGeom>
        </p:spPr>
      </p:pic>
      <p:sp>
        <p:nvSpPr>
          <p:cNvPr id="22" name="Text 6">
            <a:extLst>
              <a:ext uri="{FF2B5EF4-FFF2-40B4-BE49-F238E27FC236}">
                <a16:creationId xmlns:a16="http://schemas.microsoft.com/office/drawing/2014/main" id="{FB33FE81-D668-BE5B-5513-DF6522CE22A1}"/>
              </a:ext>
            </a:extLst>
          </p:cNvPr>
          <p:cNvSpPr/>
          <p:nvPr/>
        </p:nvSpPr>
        <p:spPr>
          <a:xfrm>
            <a:off x="7384132" y="876417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Conclusions</a:t>
            </a:r>
            <a:endParaRPr lang="en-US" sz="10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4D8FEF63-275C-690F-345A-21C6CD209BFA}"/>
              </a:ext>
            </a:extLst>
          </p:cNvPr>
          <p:cNvSpPr/>
          <p:nvPr/>
        </p:nvSpPr>
        <p:spPr>
          <a:xfrm>
            <a:off x="7333488" y="1088136"/>
            <a:ext cx="1508760" cy="1207008"/>
          </a:xfrm>
          <a:prstGeom prst="roundRect">
            <a:avLst>
              <a:gd name="adj" fmla="val 6818"/>
            </a:avLst>
          </a:prstGeom>
          <a:solidFill>
            <a:srgbClr val="F4F7FB"/>
          </a:solidFill>
          <a:ln w="12700">
            <a:solidFill>
              <a:srgbClr val="D1E0F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04B32D6C-E72C-4586-DEC3-D2691848E8E2}"/>
              </a:ext>
            </a:extLst>
          </p:cNvPr>
          <p:cNvSpPr/>
          <p:nvPr/>
        </p:nvSpPr>
        <p:spPr>
          <a:xfrm>
            <a:off x="7397496" y="1143000"/>
            <a:ext cx="320040" cy="320040"/>
          </a:xfrm>
          <a:prstGeom prst="ellipse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E05A5274-8812-BE5E-67E8-598FBB05A837}"/>
              </a:ext>
            </a:extLst>
          </p:cNvPr>
          <p:cNvSpPr/>
          <p:nvPr/>
        </p:nvSpPr>
        <p:spPr>
          <a:xfrm>
            <a:off x="7397496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A9C0A780-73F1-119B-7EA4-AC7A360C098B}"/>
              </a:ext>
            </a:extLst>
          </p:cNvPr>
          <p:cNvSpPr/>
          <p:nvPr/>
        </p:nvSpPr>
        <p:spPr>
          <a:xfrm>
            <a:off x="7744968" y="11430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</a:t>
            </a:r>
            <a:endParaRPr lang="en-US" sz="9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E307A370-1FB4-D827-094F-EAE22497044D}"/>
              </a:ext>
            </a:extLst>
          </p:cNvPr>
          <p:cNvSpPr/>
          <p:nvPr/>
        </p:nvSpPr>
        <p:spPr>
          <a:xfrm>
            <a:off x="7397496" y="14904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Lactate, HR,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SBP, ABE, SI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class shift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 dominate</a:t>
            </a:r>
            <a:endParaRPr lang="en-US" sz="800" dirty="0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4E90AA51-A032-A4E1-CF17-298508C72428}"/>
              </a:ext>
            </a:extLst>
          </p:cNvPr>
          <p:cNvSpPr/>
          <p:nvPr/>
        </p:nvSpPr>
        <p:spPr>
          <a:xfrm>
            <a:off x="7333488" y="2368296"/>
            <a:ext cx="1508760" cy="1207008"/>
          </a:xfrm>
          <a:prstGeom prst="roundRect">
            <a:avLst>
              <a:gd name="adj" fmla="val 6818"/>
            </a:avLst>
          </a:prstGeom>
          <a:solidFill>
            <a:srgbClr val="F4F7FB"/>
          </a:solidFill>
          <a:ln w="12700">
            <a:solidFill>
              <a:srgbClr val="D1E0F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2178E57B-9A41-EAA4-E705-604529C46D1B}"/>
              </a:ext>
            </a:extLst>
          </p:cNvPr>
          <p:cNvSpPr/>
          <p:nvPr/>
        </p:nvSpPr>
        <p:spPr>
          <a:xfrm>
            <a:off x="7397496" y="2423160"/>
            <a:ext cx="320040" cy="3200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0F174AC0-E08B-1CEC-A1D0-D0B8A131DDD8}"/>
              </a:ext>
            </a:extLst>
          </p:cNvPr>
          <p:cNvSpPr/>
          <p:nvPr/>
        </p:nvSpPr>
        <p:spPr>
          <a:xfrm>
            <a:off x="7397496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F5CB2724-816B-A613-C003-6A7336361280}"/>
              </a:ext>
            </a:extLst>
          </p:cNvPr>
          <p:cNvSpPr/>
          <p:nvPr/>
        </p:nvSpPr>
        <p:spPr>
          <a:xfrm>
            <a:off x="7744968" y="24231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Signal</a:t>
            </a:r>
            <a:endParaRPr lang="en-US" sz="9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7A4FA174-CF6F-9191-FA38-B30FC82643F0}"/>
              </a:ext>
            </a:extLst>
          </p:cNvPr>
          <p:cNvSpPr/>
          <p:nvPr/>
        </p:nvSpPr>
        <p:spPr>
          <a:xfrm>
            <a:off x="7397496" y="277063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RespRate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class diff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zeros them</a:t>
            </a:r>
            <a:endParaRPr lang="en-US" sz="800" dirty="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C1BCE560-EF1A-FEFA-FCFD-BC70543A11FE}"/>
              </a:ext>
            </a:extLst>
          </p:cNvPr>
          <p:cNvSpPr/>
          <p:nvPr/>
        </p:nvSpPr>
        <p:spPr>
          <a:xfrm>
            <a:off x="7333488" y="3648456"/>
            <a:ext cx="1508760" cy="1207008"/>
          </a:xfrm>
          <a:prstGeom prst="roundRect">
            <a:avLst>
              <a:gd name="adj" fmla="val 6818"/>
            </a:avLst>
          </a:prstGeom>
          <a:solidFill>
            <a:srgbClr val="F4F7FB"/>
          </a:solidFill>
          <a:ln w="12700">
            <a:solidFill>
              <a:srgbClr val="D1E0F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6" name="Shape 18">
            <a:extLst>
              <a:ext uri="{FF2B5EF4-FFF2-40B4-BE49-F238E27FC236}">
                <a16:creationId xmlns:a16="http://schemas.microsoft.com/office/drawing/2014/main" id="{79536CCC-FA73-8B91-F9B4-280208F8AE3E}"/>
              </a:ext>
            </a:extLst>
          </p:cNvPr>
          <p:cNvSpPr/>
          <p:nvPr/>
        </p:nvSpPr>
        <p:spPr>
          <a:xfrm>
            <a:off x="7397496" y="3703320"/>
            <a:ext cx="320040" cy="320040"/>
          </a:xfrm>
          <a:prstGeom prst="ellipse">
            <a:avLst/>
          </a:prstGeom>
          <a:solidFill>
            <a:srgbClr val="B85A1A"/>
          </a:solidFill>
          <a:ln w="12700">
            <a:solidFill>
              <a:srgbClr val="B85A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64A0F09E-E0B3-2E82-E429-EE882500CCB9}"/>
              </a:ext>
            </a:extLst>
          </p:cNvPr>
          <p:cNvSpPr/>
          <p:nvPr/>
        </p:nvSpPr>
        <p:spPr>
          <a:xfrm>
            <a:off x="7397496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0D0C2311-AD61-CB56-CA9C-FEEAB057D089}"/>
              </a:ext>
            </a:extLst>
          </p:cNvPr>
          <p:cNvSpPr/>
          <p:nvPr/>
        </p:nvSpPr>
        <p:spPr>
          <a:xfrm>
            <a:off x="7744968" y="37033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3D269608-3F6D-1FAD-6041-FB9095188627}"/>
              </a:ext>
            </a:extLst>
          </p:cNvPr>
          <p:cNvSpPr/>
          <p:nvPr/>
        </p:nvSpPr>
        <p:spPr>
          <a:xfrm>
            <a:off x="7397496" y="405079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 imbalance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critical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Lactate right-skewed (+1.46)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71467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C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4087B-C630-C410-07F6-F171E790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>
            <a:extLst>
              <a:ext uri="{FF2B5EF4-FFF2-40B4-BE49-F238E27FC236}">
                <a16:creationId xmlns:a16="http://schemas.microsoft.com/office/drawing/2014/main" id="{35092799-F784-8A18-2303-CFAA5807C209}"/>
              </a:ext>
            </a:extLst>
          </p:cNvPr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—  DATA PRE-PROCESSING</a:t>
            </a:r>
            <a:endParaRPr lang="en-US" sz="750" dirty="0"/>
          </a:p>
        </p:txBody>
      </p:sp>
      <p:sp>
        <p:nvSpPr>
          <p:cNvPr id="70" name="Text 1">
            <a:extLst>
              <a:ext uri="{FF2B5EF4-FFF2-40B4-BE49-F238E27FC236}">
                <a16:creationId xmlns:a16="http://schemas.microsoft.com/office/drawing/2014/main" id="{7A9E8D3E-B83F-3772-630A-485FA009526A}"/>
              </a:ext>
            </a:extLst>
          </p:cNvPr>
          <p:cNvSpPr/>
          <p:nvPr/>
        </p:nvSpPr>
        <p:spPr>
          <a:xfrm>
            <a:off x="411480" y="38404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Pipeline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2" name="Text 2">
            <a:extLst>
              <a:ext uri="{FF2B5EF4-FFF2-40B4-BE49-F238E27FC236}">
                <a16:creationId xmlns:a16="http://schemas.microsoft.com/office/drawing/2014/main" id="{1891C423-ACE3-D2B6-A070-E3AB913B02C3}"/>
              </a:ext>
            </a:extLst>
          </p:cNvPr>
          <p:cNvSpPr/>
          <p:nvPr/>
        </p:nvSpPr>
        <p:spPr>
          <a:xfrm>
            <a:off x="2743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Removal</a:t>
            </a:r>
            <a:endParaRPr lang="en-US" sz="1000" dirty="0">
              <a:solidFill>
                <a:schemeClr val="bg1"/>
              </a:solidFill>
            </a:endParaRPr>
          </a:p>
        </p:txBody>
      </p:sp>
      <p:graphicFrame>
        <p:nvGraphicFramePr>
          <p:cNvPr id="74" name="Table 0">
            <a:extLst>
              <a:ext uri="{FF2B5EF4-FFF2-40B4-BE49-F238E27FC236}">
                <a16:creationId xmlns:a16="http://schemas.microsoft.com/office/drawing/2014/main" id="{9B01C8C9-EA1D-34CB-33BD-8E44ADF89155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1207008"/>
          <a:ext cx="2560320" cy="12801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 — no predictive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Units_Transfused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MT label → data leakage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Time_to_Hospital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project 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" name="Text 3">
            <a:extLst>
              <a:ext uri="{FF2B5EF4-FFF2-40B4-BE49-F238E27FC236}">
                <a16:creationId xmlns:a16="http://schemas.microsoft.com/office/drawing/2014/main" id="{CA89E658-469B-0BD6-3351-6B48A56F1614}"/>
              </a:ext>
            </a:extLst>
          </p:cNvPr>
          <p:cNvSpPr/>
          <p:nvPr/>
        </p:nvSpPr>
        <p:spPr>
          <a:xfrm>
            <a:off x="2971800" y="960823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>
              <a:solidFill>
                <a:schemeClr val="bg1"/>
              </a:solidFill>
            </a:endParaRPr>
          </a:p>
        </p:txBody>
      </p:sp>
      <p:graphicFrame>
        <p:nvGraphicFramePr>
          <p:cNvPr id="78" name="Table 1">
            <a:extLst>
              <a:ext uri="{FF2B5EF4-FFF2-40B4-BE49-F238E27FC236}">
                <a16:creationId xmlns:a16="http://schemas.microsoft.com/office/drawing/2014/main" id="{9A8B6D03-4E83-CFDA-E96D-8D3B64DB0D27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1207008"/>
          <a:ext cx="3154679" cy="808188"/>
        </p:xfrm>
        <a:graphic>
          <a:graphicData uri="http://schemas.openxmlformats.org/drawingml/2006/table">
            <a:tbl>
              <a:tblPr/>
              <a:tblGrid>
                <a:gridCol w="145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Female=1, Male=0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Injury_Type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Penetrating=1, Blunt=0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" name="Shape 4">
            <a:extLst>
              <a:ext uri="{FF2B5EF4-FFF2-40B4-BE49-F238E27FC236}">
                <a16:creationId xmlns:a16="http://schemas.microsoft.com/office/drawing/2014/main" id="{F3384E7C-7F37-8216-978E-89D232A30A59}"/>
              </a:ext>
            </a:extLst>
          </p:cNvPr>
          <p:cNvSpPr/>
          <p:nvPr/>
        </p:nvSpPr>
        <p:spPr>
          <a:xfrm>
            <a:off x="274320" y="2569464"/>
            <a:ext cx="2579839" cy="896112"/>
          </a:xfrm>
          <a:prstGeom prst="roundRect">
            <a:avLst>
              <a:gd name="adj" fmla="val 17308"/>
            </a:avLst>
          </a:prstGeom>
          <a:solidFill>
            <a:srgbClr val="E8F4E8"/>
          </a:solidFill>
          <a:ln w="12700">
            <a:solidFill>
              <a:srgbClr val="A8D5A8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 dirty="0"/>
          </a:p>
        </p:txBody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4AAA142C-7076-5E1D-1697-4CA8FD2141FB}"/>
              </a:ext>
            </a:extLst>
          </p:cNvPr>
          <p:cNvSpPr/>
          <p:nvPr/>
        </p:nvSpPr>
        <p:spPr>
          <a:xfrm>
            <a:off x="411480" y="284378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missing values (0 / 9,000 cells)</a:t>
            </a:r>
            <a:endParaRPr lang="en-US" sz="950" dirty="0"/>
          </a:p>
        </p:txBody>
      </p:sp>
      <p:graphicFrame>
        <p:nvGraphicFramePr>
          <p:cNvPr id="84" name="Table 2">
            <a:extLst>
              <a:ext uri="{FF2B5EF4-FFF2-40B4-BE49-F238E27FC236}">
                <a16:creationId xmlns:a16="http://schemas.microsoft.com/office/drawing/2014/main" id="{70248D03-3117-EBF6-411A-37A67380B236}"/>
              </a:ext>
            </a:extLst>
          </p:cNvPr>
          <p:cNvGraphicFramePr>
            <a:graphicFrameLocks noGrp="1"/>
          </p:cNvGraphicFramePr>
          <p:nvPr/>
        </p:nvGraphicFramePr>
        <p:xfrm>
          <a:off x="2955974" y="2203704"/>
          <a:ext cx="3154680" cy="126187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Systolic_BP_mmHg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mmHg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40: non-survivable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Heart_Rate_BPM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bpm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20: asystole; &gt; 220: physical max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6" name="Text 14">
            <a:extLst>
              <a:ext uri="{FF2B5EF4-FFF2-40B4-BE49-F238E27FC236}">
                <a16:creationId xmlns:a16="http://schemas.microsoft.com/office/drawing/2014/main" id="{FD791626-9951-B855-E50E-3FE4DDFDA807}"/>
              </a:ext>
            </a:extLst>
          </p:cNvPr>
          <p:cNvSpPr/>
          <p:nvPr/>
        </p:nvSpPr>
        <p:spPr>
          <a:xfrm>
            <a:off x="6309360" y="9601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8" name="Shape 15">
            <a:extLst>
              <a:ext uri="{FF2B5EF4-FFF2-40B4-BE49-F238E27FC236}">
                <a16:creationId xmlns:a16="http://schemas.microsoft.com/office/drawing/2014/main" id="{303466D4-2063-5C2E-F83F-2BF13C83B198}"/>
              </a:ext>
            </a:extLst>
          </p:cNvPr>
          <p:cNvSpPr/>
          <p:nvPr/>
        </p:nvSpPr>
        <p:spPr>
          <a:xfrm>
            <a:off x="6309360" y="1207008"/>
            <a:ext cx="260604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1E0F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0" name="Text 16">
            <a:extLst>
              <a:ext uri="{FF2B5EF4-FFF2-40B4-BE49-F238E27FC236}">
                <a16:creationId xmlns:a16="http://schemas.microsoft.com/office/drawing/2014/main" id="{15F6DA2F-BB26-8B35-EE3D-1C3822031DA2}"/>
              </a:ext>
            </a:extLst>
          </p:cNvPr>
          <p:cNvSpPr/>
          <p:nvPr/>
        </p:nvSpPr>
        <p:spPr>
          <a:xfrm>
            <a:off x="6446520" y="12618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92" name="Text 17">
            <a:extLst>
              <a:ext uri="{FF2B5EF4-FFF2-40B4-BE49-F238E27FC236}">
                <a16:creationId xmlns:a16="http://schemas.microsoft.com/office/drawing/2014/main" id="{0358ED6B-D5B0-C02D-399E-EFEAE7C66E6F}"/>
              </a:ext>
            </a:extLst>
          </p:cNvPr>
          <p:cNvSpPr/>
          <p:nvPr/>
        </p:nvSpPr>
        <p:spPr>
          <a:xfrm>
            <a:off x="6446520" y="1426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</a:t>
            </a:r>
            <a:endParaRPr lang="en-US" sz="1300" dirty="0"/>
          </a:p>
        </p:txBody>
      </p:sp>
      <p:sp>
        <p:nvSpPr>
          <p:cNvPr id="94" name="Text 18">
            <a:extLst>
              <a:ext uri="{FF2B5EF4-FFF2-40B4-BE49-F238E27FC236}">
                <a16:creationId xmlns:a16="http://schemas.microsoft.com/office/drawing/2014/main" id="{55A72A74-7052-679A-7E70-68E439D1637B}"/>
              </a:ext>
            </a:extLst>
          </p:cNvPr>
          <p:cNvSpPr/>
          <p:nvPr/>
        </p:nvSpPr>
        <p:spPr>
          <a:xfrm>
            <a:off x="644652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strategy='median'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 train only</a:t>
            </a:r>
            <a:endParaRPr lang="en-US" sz="850" dirty="0"/>
          </a:p>
        </p:txBody>
      </p:sp>
      <p:sp>
        <p:nvSpPr>
          <p:cNvPr id="96" name="Text 19">
            <a:extLst>
              <a:ext uri="{FF2B5EF4-FFF2-40B4-BE49-F238E27FC236}">
                <a16:creationId xmlns:a16="http://schemas.microsoft.com/office/drawing/2014/main" id="{B49432A3-3270-94E7-73C5-861339CAC86B}"/>
              </a:ext>
            </a:extLst>
          </p:cNvPr>
          <p:cNvSpPr/>
          <p:nvPr/>
        </p:nvSpPr>
        <p:spPr>
          <a:xfrm>
            <a:off x="7269480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98" name="Shape 20">
            <a:extLst>
              <a:ext uri="{FF2B5EF4-FFF2-40B4-BE49-F238E27FC236}">
                <a16:creationId xmlns:a16="http://schemas.microsoft.com/office/drawing/2014/main" id="{84111EB6-62BE-F099-E124-8855C1008191}"/>
              </a:ext>
            </a:extLst>
          </p:cNvPr>
          <p:cNvSpPr/>
          <p:nvPr/>
        </p:nvSpPr>
        <p:spPr>
          <a:xfrm>
            <a:off x="6309360" y="2404872"/>
            <a:ext cx="2567354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1E0F0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0" name="Text 21">
            <a:extLst>
              <a:ext uri="{FF2B5EF4-FFF2-40B4-BE49-F238E27FC236}">
                <a16:creationId xmlns:a16="http://schemas.microsoft.com/office/drawing/2014/main" id="{926EF148-9B51-00F6-1DC9-6DF62EA5BB07}"/>
              </a:ext>
            </a:extLst>
          </p:cNvPr>
          <p:cNvSpPr/>
          <p:nvPr/>
        </p:nvSpPr>
        <p:spPr>
          <a:xfrm>
            <a:off x="6446520" y="240487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102" name="Text 22">
            <a:extLst>
              <a:ext uri="{FF2B5EF4-FFF2-40B4-BE49-F238E27FC236}">
                <a16:creationId xmlns:a16="http://schemas.microsoft.com/office/drawing/2014/main" id="{05E8973D-AE8B-B375-ED8B-5283B063DE5A}"/>
              </a:ext>
            </a:extLst>
          </p:cNvPr>
          <p:cNvSpPr/>
          <p:nvPr/>
        </p:nvSpPr>
        <p:spPr>
          <a:xfrm>
            <a:off x="6446520" y="2569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300" dirty="0"/>
          </a:p>
        </p:txBody>
      </p:sp>
      <p:sp>
        <p:nvSpPr>
          <p:cNvPr id="104" name="Text 23">
            <a:extLst>
              <a:ext uri="{FF2B5EF4-FFF2-40B4-BE49-F238E27FC236}">
                <a16:creationId xmlns:a16="http://schemas.microsoft.com/office/drawing/2014/main" id="{DA4C5FDD-9376-BE64-1C2D-69BE96F999E2}"/>
              </a:ext>
            </a:extLst>
          </p:cNvPr>
          <p:cNvSpPr/>
          <p:nvPr/>
        </p:nvSpPr>
        <p:spPr>
          <a:xfrm>
            <a:off x="644652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mean, unit variance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 train only</a:t>
            </a:r>
            <a:endParaRPr lang="en-US" sz="850" dirty="0"/>
          </a:p>
        </p:txBody>
      </p:sp>
      <p:sp>
        <p:nvSpPr>
          <p:cNvPr id="108" name="Shape 2">
            <a:extLst>
              <a:ext uri="{FF2B5EF4-FFF2-40B4-BE49-F238E27FC236}">
                <a16:creationId xmlns:a16="http://schemas.microsoft.com/office/drawing/2014/main" id="{6361F587-55E9-BD0F-62B3-A181330B1FCE}"/>
              </a:ext>
            </a:extLst>
          </p:cNvPr>
          <p:cNvSpPr/>
          <p:nvPr/>
        </p:nvSpPr>
        <p:spPr>
          <a:xfrm flipV="1">
            <a:off x="274320" y="859535"/>
            <a:ext cx="8745502" cy="33851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48422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4243E4-381B-D6A8-4555-440B26C1A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039" y="1016298"/>
            <a:ext cx="5254489" cy="28445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B3DFE8-9B83-D5E0-2967-6C4CDE25C048}"/>
              </a:ext>
            </a:extLst>
          </p:cNvPr>
          <p:cNvSpPr txBox="1"/>
          <p:nvPr/>
        </p:nvSpPr>
        <p:spPr>
          <a:xfrm>
            <a:off x="215463" y="123525"/>
            <a:ext cx="59646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</a:t>
            </a:r>
            <a:r>
              <a:rPr lang="ru-RU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SUPERVISED LEARNING</a:t>
            </a:r>
            <a:endParaRPr lang="en-US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5B90F3-87C1-1AF6-5554-EFC3542F79C8}"/>
              </a:ext>
            </a:extLst>
          </p:cNvPr>
          <p:cNvSpPr txBox="1"/>
          <p:nvPr/>
        </p:nvSpPr>
        <p:spPr>
          <a:xfrm>
            <a:off x="355600" y="368932"/>
            <a:ext cx="7730762" cy="1008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r>
              <a:rPr lang="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</a:rPr>
              <a:t>Choosing the methods – XGBoost the best model</a:t>
            </a:r>
          </a:p>
          <a:p>
            <a:pPr lvl="0">
              <a:lnSpc>
                <a:spcPct val="115000"/>
              </a:lnSpc>
              <a:spcAft>
                <a:spcPts val="800"/>
              </a:spcAft>
            </a:pPr>
            <a:endParaRPr lang="" sz="2400" b="1" dirty="0">
              <a:solidFill>
                <a:schemeClr val="bg1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16CB3E26-D3E4-A089-E10B-E18902911B91}"/>
              </a:ext>
            </a:extLst>
          </p:cNvPr>
          <p:cNvSpPr/>
          <p:nvPr/>
        </p:nvSpPr>
        <p:spPr>
          <a:xfrm flipV="1">
            <a:off x="274320" y="826833"/>
            <a:ext cx="8745502" cy="33851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A612A7-C694-3A7A-1AED-C1307F4A7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2039" y="3916496"/>
            <a:ext cx="5254489" cy="110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60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</a:t>
            </a:r>
            <a:r>
              <a:rPr lang="ru-RU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SUPERVISED LEARNING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- Testing environment &amp;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347472" cy="34747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530352" y="1481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7552" y="1408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7007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1404" y="2211896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530352" y="2395728"/>
            <a:ext cx="347472" cy="34747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530352" y="2395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87552" y="225631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3667" y="2444836"/>
            <a:ext cx="7589520" cy="532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tuning → initial parameter exploration </a:t>
            </a:r>
            <a:endParaRPr lang="ru-RU" sz="1000" dirty="0">
              <a:solidFill>
                <a:srgbClr val="B5D4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(144 combinations) → confirmed optimal parameters</a:t>
            </a:r>
            <a:endParaRPr lang="ru-RU" sz="1000" dirty="0">
              <a:solidFill>
                <a:srgbClr val="B5D4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(5-fold cross-validation, scoring = PR-AUC</a:t>
            </a:r>
            <a:r>
              <a:rPr lang="ru-RU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>
              <a:solidFill>
                <a:srgbClr val="B5D4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118090"/>
            <a:ext cx="8412480" cy="786384"/>
          </a:xfrm>
          <a:prstGeom prst="roundRect">
            <a:avLst>
              <a:gd name="adj" fmla="val 9302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530352" y="3310128"/>
            <a:ext cx="347472" cy="34747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30352" y="3310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</a:t>
            </a:r>
            <a:endParaRPr lang="en-US" sz="1200" b="1" dirty="0">
              <a:solidFill>
                <a:srgbClr val="1D9E7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24128" y="337051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 (OOF) predictions </a:t>
            </a:r>
            <a:endParaRPr lang="ru-RU" sz="1000" dirty="0">
              <a:solidFill>
                <a:srgbClr val="B5D4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 selection </a:t>
            </a:r>
          </a:p>
        </p:txBody>
      </p:sp>
      <p:sp>
        <p:nvSpPr>
          <p:cNvPr id="20" name="Shape 18"/>
          <p:cNvSpPr/>
          <p:nvPr/>
        </p:nvSpPr>
        <p:spPr>
          <a:xfrm>
            <a:off x="365760" y="4053472"/>
            <a:ext cx="8412480" cy="833996"/>
          </a:xfrm>
          <a:prstGeom prst="roundRect">
            <a:avLst>
              <a:gd name="adj" fmla="val 9302"/>
            </a:avLst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530352" y="4224528"/>
            <a:ext cx="347472" cy="347472"/>
          </a:xfrm>
          <a:prstGeom prst="ellipse">
            <a:avLst/>
          </a:prstGeom>
          <a:solidFill>
            <a:srgbClr val="185FA5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530352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7552" y="40873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b="1" dirty="0">
              <a:solidFill>
                <a:srgbClr val="1D9E7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7552" y="4317702"/>
            <a:ext cx="7589520" cy="507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ROC-AUC </a:t>
            </a:r>
            <a:endParaRPr lang="ru-RU" sz="1000" dirty="0">
              <a:solidFill>
                <a:srgbClr val="B5D4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metrics: Recall • Specificity • Precision • F1-score </a:t>
            </a:r>
            <a:endParaRPr lang="ru-RU" sz="1000" dirty="0">
              <a:solidFill>
                <a:srgbClr val="B5D4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ABC Score</a:t>
            </a:r>
            <a:endParaRPr lang="en-US" sz="1000" dirty="0">
              <a:solidFill>
                <a:srgbClr val="B5D4F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B0672D-A4BA-6BF2-F756-A57FC7C96F66}"/>
              </a:ext>
            </a:extLst>
          </p:cNvPr>
          <p:cNvSpPr txBox="1"/>
          <p:nvPr/>
        </p:nvSpPr>
        <p:spPr>
          <a:xfrm>
            <a:off x="257503" y="407304"/>
            <a:ext cx="830842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- Model results &amp; scoring comparison</a:t>
            </a:r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3172D4-E169-D778-FE9B-BB9823DB7A66}"/>
              </a:ext>
            </a:extLst>
          </p:cNvPr>
          <p:cNvSpPr txBox="1"/>
          <p:nvPr/>
        </p:nvSpPr>
        <p:spPr>
          <a:xfrm>
            <a:off x="257503" y="84139"/>
            <a:ext cx="554420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</a:t>
            </a:r>
            <a:r>
              <a:rPr lang="ru-RU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SUPERVISED LEARNING</a:t>
            </a:r>
            <a:endParaRPr lang="en-US" sz="8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FC62F5A-4B21-E52D-4753-AFF04EB994A0}"/>
              </a:ext>
            </a:extLst>
          </p:cNvPr>
          <p:cNvSpPr/>
          <p:nvPr/>
        </p:nvSpPr>
        <p:spPr>
          <a:xfrm>
            <a:off x="336330" y="1002266"/>
            <a:ext cx="8660913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0B8AB-0EBA-63E5-2F9F-44C314C6B42A}"/>
              </a:ext>
            </a:extLst>
          </p:cNvPr>
          <p:cNvSpPr txBox="1"/>
          <p:nvPr/>
        </p:nvSpPr>
        <p:spPr>
          <a:xfrm>
            <a:off x="257503" y="1240980"/>
            <a:ext cx="3456541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bg1"/>
                </a:solidFill>
              </a:rPr>
              <a:t>    </a:t>
            </a:r>
            <a:r>
              <a:rPr lang="en-US" sz="1000" dirty="0">
                <a:solidFill>
                  <a:schemeClr val="bg1"/>
                </a:solidFill>
              </a:rPr>
              <a:t>n_estimators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</a:rPr>
              <a:t>= 100,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    max_depth = 3,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    learning_rate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</a:rPr>
              <a:t>= 0.1,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    min_child_weight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</a:rPr>
              <a:t>= 1,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    subsample=1.0,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    scale_pos_weight = scale_pos_weight,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    random_state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</a:rPr>
              <a:t>=42,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    eval_metric=</a:t>
            </a:r>
            <a:r>
              <a:rPr lang="ru-RU" sz="1000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</a:rPr>
              <a:t>logloss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" sz="1050" b="1" dirty="0">
                <a:solidFill>
                  <a:schemeClr val="bg1"/>
                </a:solidFill>
              </a:rPr>
              <a:t>Threshold = 0.44</a:t>
            </a:r>
            <a:endParaRPr lang="LID4096" sz="1050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C5F862-A5FC-3BD1-F14C-8B659387E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9712" y="1343500"/>
            <a:ext cx="6036785" cy="32721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3D07E0-D022-2149-2ED6-AFAEF8EB9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481" y="3656574"/>
            <a:ext cx="2480980" cy="96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513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34F982-1571-ACD3-81A3-33F49DAEBEFE}"/>
              </a:ext>
            </a:extLst>
          </p:cNvPr>
          <p:cNvSpPr txBox="1"/>
          <p:nvPr/>
        </p:nvSpPr>
        <p:spPr>
          <a:xfrm>
            <a:off x="357352" y="127456"/>
            <a:ext cx="52776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</a:t>
            </a:r>
            <a:r>
              <a:rPr lang="ru-RU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SUPERVISED LEARNING</a:t>
            </a:r>
            <a:endParaRPr lang="en-US" sz="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DD71CA-A336-FDA3-6F7E-C6B3AB8F2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012" y="1255968"/>
            <a:ext cx="6888513" cy="300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27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A3F3C5-1563-F881-76F2-621C9E4FF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3360" y="598659"/>
            <a:ext cx="4855127" cy="3679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D8808A-68CC-0009-4C0D-C8E811E6E499}"/>
              </a:ext>
            </a:extLst>
          </p:cNvPr>
          <p:cNvSpPr txBox="1"/>
          <p:nvPr/>
        </p:nvSpPr>
        <p:spPr>
          <a:xfrm>
            <a:off x="357352" y="127456"/>
            <a:ext cx="52776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</a:t>
            </a:r>
            <a:r>
              <a:rPr lang="ru-RU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SUPERVISED LEARNING</a:t>
            </a:r>
            <a:endParaRPr lang="en-US" sz="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45094C-4630-1187-3909-0F81F210BB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3359" y="4380076"/>
            <a:ext cx="4855127" cy="69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53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A6DA26-044A-A555-8161-AE0A21506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074" y="1219200"/>
            <a:ext cx="5553851" cy="32753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452B65-4E07-C502-11AD-7A62C948B335}"/>
              </a:ext>
            </a:extLst>
          </p:cNvPr>
          <p:cNvSpPr txBox="1"/>
          <p:nvPr/>
        </p:nvSpPr>
        <p:spPr>
          <a:xfrm>
            <a:off x="357352" y="127456"/>
            <a:ext cx="52776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—  SUPERVISED LEARNING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90382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F83B39-A6D7-1A0E-7D05-87D864F9B5E6}"/>
              </a:ext>
            </a:extLst>
          </p:cNvPr>
          <p:cNvSpPr txBox="1"/>
          <p:nvPr/>
        </p:nvSpPr>
        <p:spPr>
          <a:xfrm>
            <a:off x="289034" y="186587"/>
            <a:ext cx="58805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—  SUPERVISED LEARNING</a:t>
            </a:r>
            <a:endParaRPr lang="en-US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E22708-9778-7E14-D155-CE4B8B1567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78"/>
          <a:stretch>
            <a:fillRect/>
          </a:stretch>
        </p:blipFill>
        <p:spPr>
          <a:xfrm>
            <a:off x="289034" y="846625"/>
            <a:ext cx="3922184" cy="1932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494E07-FDA0-DBBE-5D04-1749473A19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746"/>
          <a:stretch>
            <a:fillRect/>
          </a:stretch>
        </p:blipFill>
        <p:spPr>
          <a:xfrm>
            <a:off x="333704" y="3330821"/>
            <a:ext cx="3877515" cy="10519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5F5B76-BDEA-1701-6853-3BE4D765C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1" y="846624"/>
            <a:ext cx="4282966" cy="1932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497E88-7E01-ED43-72DD-83F21FA384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8711" y="3330820"/>
            <a:ext cx="4236256" cy="105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640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32493C-2B09-244B-9427-9E031C29AF91}"/>
              </a:ext>
            </a:extLst>
          </p:cNvPr>
          <p:cNvSpPr txBox="1"/>
          <p:nvPr/>
        </p:nvSpPr>
        <p:spPr>
          <a:xfrm>
            <a:off x="357352" y="127456"/>
            <a:ext cx="52776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—  SUPERVISED LEARNING</a:t>
            </a:r>
            <a:endParaRPr lang="en-US" sz="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EAB404F-CAF5-BEC2-FD50-EF2FA64A08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639" r="40000"/>
          <a:stretch>
            <a:fillRect/>
          </a:stretch>
        </p:blipFill>
        <p:spPr>
          <a:xfrm>
            <a:off x="2193452" y="3094112"/>
            <a:ext cx="4757095" cy="1756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4C9F91-9049-6C81-6C68-ADBD99205B98}"/>
              </a:ext>
            </a:extLst>
          </p:cNvPr>
          <p:cNvSpPr txBox="1"/>
          <p:nvPr/>
        </p:nvSpPr>
        <p:spPr>
          <a:xfrm>
            <a:off x="357352" y="515246"/>
            <a:ext cx="6088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did we try Voting and Stacking?</a:t>
            </a:r>
            <a:endParaRPr lang="LID4096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BA0D48E-BAF3-D06D-0041-0B697DE3FEB1}"/>
              </a:ext>
            </a:extLst>
          </p:cNvPr>
          <p:cNvSpPr/>
          <p:nvPr/>
        </p:nvSpPr>
        <p:spPr>
          <a:xfrm>
            <a:off x="336330" y="1002266"/>
            <a:ext cx="8660913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B718AF-2A44-7FBE-E637-7485FDD20574}"/>
              </a:ext>
            </a:extLst>
          </p:cNvPr>
          <p:cNvSpPr txBox="1"/>
          <p:nvPr/>
        </p:nvSpPr>
        <p:spPr>
          <a:xfrm>
            <a:off x="710171" y="11492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" dirty="0">
                <a:solidFill>
                  <a:schemeClr val="bg1"/>
                </a:solidFill>
              </a:rPr>
              <a:t>Voting Classifier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B87FE6-DECD-3EAE-4A99-3F13D47FEFC7}"/>
              </a:ext>
            </a:extLst>
          </p:cNvPr>
          <p:cNvSpPr txBox="1"/>
          <p:nvPr/>
        </p:nvSpPr>
        <p:spPr>
          <a:xfrm>
            <a:off x="4954794" y="11383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" dirty="0">
                <a:solidFill>
                  <a:schemeClr val="bg1"/>
                </a:solidFill>
              </a:rPr>
              <a:t>Stacking Classifier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420A6B-9E6E-D581-FB01-30134E529163}"/>
              </a:ext>
            </a:extLst>
          </p:cNvPr>
          <p:cNvSpPr txBox="1"/>
          <p:nvPr/>
        </p:nvSpPr>
        <p:spPr>
          <a:xfrm>
            <a:off x="805182" y="1507689"/>
            <a:ext cx="23010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Final P(MT) = (LR + RF + XGBoost) /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64FFA0-05CE-2392-463D-BA21B7AC31E2}"/>
              </a:ext>
            </a:extLst>
          </p:cNvPr>
          <p:cNvSpPr txBox="1"/>
          <p:nvPr/>
        </p:nvSpPr>
        <p:spPr>
          <a:xfrm>
            <a:off x="5282171" y="1511241"/>
            <a:ext cx="29587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LR      → P(MT) = 0.72</a:t>
            </a:r>
          </a:p>
          <a:p>
            <a:r>
              <a:rPr lang="LID4096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RF      → P(MT) = 0.65</a:t>
            </a:r>
          </a:p>
          <a:p>
            <a:r>
              <a:rPr lang="LID4096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XGBoost → P(MT) = 0.81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3C48B6-CFE5-7652-6352-23AB10303400}"/>
              </a:ext>
            </a:extLst>
          </p:cNvPr>
          <p:cNvSpPr txBox="1"/>
          <p:nvPr/>
        </p:nvSpPr>
        <p:spPr>
          <a:xfrm>
            <a:off x="5104414" y="2096248"/>
            <a:ext cx="32154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Final P(MT) = w1 × 0.72 + w2 × 0.65 + w3 × 0.81</a:t>
            </a:r>
          </a:p>
        </p:txBody>
      </p:sp>
    </p:spTree>
    <p:extLst>
      <p:ext uri="{BB962C8B-B14F-4D97-AF65-F5344CB8AC3E}">
        <p14:creationId xmlns:p14="http://schemas.microsoft.com/office/powerpoint/2010/main" val="867645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—  insights and conclusions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96880"/>
            <a:ext cx="8229600" cy="775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the data — insights from modelling &amp; conclusions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00338"/>
            <a:ext cx="8229600" cy="0"/>
          </a:xfrm>
          <a:prstGeom prst="line">
            <a:avLst/>
          </a:prstGeom>
          <a:noFill/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DB9D41-2F91-AF71-5AC4-915A75B32D98}"/>
              </a:ext>
            </a:extLst>
          </p:cNvPr>
          <p:cNvSpPr txBox="1"/>
          <p:nvPr/>
        </p:nvSpPr>
        <p:spPr>
          <a:xfrm>
            <a:off x="730475" y="1480185"/>
            <a:ext cx="6027683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" sz="1200" b="1" dirty="0">
                <a:solidFill>
                  <a:srgbClr val="79C0FF"/>
                </a:solidFill>
                <a:ea typeface="Cambria" panose="02040503050406030204" pitchFamily="18" charset="0"/>
              </a:rPr>
              <a:t>Data insights</a:t>
            </a:r>
          </a:p>
          <a:p>
            <a:pPr>
              <a:lnSpc>
                <a:spcPts val="1425"/>
              </a:lnSpc>
              <a:buNone/>
            </a:pPr>
            <a:r>
              <a:rPr lang="" sz="1200" dirty="0">
                <a:solidFill>
                  <a:srgbClr val="BBBEBF"/>
                </a:solidFill>
                <a:ea typeface="Cambria" panose="02040503050406030204" pitchFamily="18" charset="0"/>
              </a:rPr>
              <a:t>Despite Stacking matching XGBoost in Recall (both 0.80), XGBoost remains the best model overall</a:t>
            </a:r>
          </a:p>
          <a:p>
            <a:pPr>
              <a:lnSpc>
                <a:spcPts val="1425"/>
              </a:lnSpc>
              <a:buNone/>
            </a:pPr>
            <a:endParaRPr lang="" sz="1200" dirty="0">
              <a:solidFill>
                <a:srgbClr val="BBBEBF"/>
              </a:solidFill>
              <a:ea typeface="Cambria" panose="02040503050406030204" pitchFamily="18" charset="0"/>
            </a:endParaRPr>
          </a:p>
          <a:p>
            <a:pPr>
              <a:lnSpc>
                <a:spcPts val="1425"/>
              </a:lnSpc>
            </a:pPr>
            <a:r>
              <a:rPr lang="" sz="1200" b="1" dirty="0">
                <a:solidFill>
                  <a:srgbClr val="79C0FF"/>
                </a:solidFill>
                <a:ea typeface="Cambria" panose="02040503050406030204" pitchFamily="18" charset="0"/>
              </a:rPr>
              <a:t>Conclusion</a:t>
            </a:r>
            <a:endParaRPr lang="" sz="1200" dirty="0">
              <a:solidFill>
                <a:srgbClr val="BBBEBF"/>
              </a:solidFill>
              <a:ea typeface="Cambria" panose="02040503050406030204" pitchFamily="18" charset="0"/>
            </a:endParaRPr>
          </a:p>
          <a:p>
            <a:pPr>
              <a:lnSpc>
                <a:spcPts val="1425"/>
              </a:lnSpc>
              <a:buNone/>
            </a:pPr>
            <a:r>
              <a:rPr lang="" sz="1200" dirty="0">
                <a:solidFill>
                  <a:srgbClr val="BBBEBF"/>
                </a:solidFill>
                <a:ea typeface="Cambria" panose="02040503050406030204" pitchFamily="18" charset="0"/>
              </a:rPr>
              <a:t>More complex ensemble methods did not help because:</a:t>
            </a:r>
          </a:p>
          <a:p>
            <a:pPr>
              <a:lnSpc>
                <a:spcPts val="1425"/>
              </a:lnSpc>
              <a:buNone/>
            </a:pPr>
            <a:r>
              <a:rPr lang="" sz="1200" b="0" dirty="0">
                <a:solidFill>
                  <a:srgbClr val="FFA657"/>
                </a:solidFill>
                <a:effectLst/>
                <a:ea typeface="Cambria" panose="02040503050406030204" pitchFamily="18" charset="0"/>
              </a:rPr>
              <a:t>1.</a:t>
            </a:r>
            <a:r>
              <a:rPr lang="" sz="1200" b="0" dirty="0">
                <a:solidFill>
                  <a:srgbClr val="BBBEBF"/>
                </a:solidFill>
                <a:effectLst/>
                <a:ea typeface="Cambria" panose="02040503050406030204" pitchFamily="18" charset="0"/>
              </a:rPr>
              <a:t> All base models share the same weaknesses (gray zone patients)</a:t>
            </a:r>
          </a:p>
          <a:p>
            <a:pPr>
              <a:lnSpc>
                <a:spcPts val="1425"/>
              </a:lnSpc>
              <a:buNone/>
            </a:pPr>
            <a:r>
              <a:rPr lang="" sz="1200" b="0" dirty="0">
                <a:solidFill>
                  <a:srgbClr val="FFA657"/>
                </a:solidFill>
                <a:effectLst/>
                <a:ea typeface="Cambria" panose="02040503050406030204" pitchFamily="18" charset="0"/>
              </a:rPr>
              <a:t>2.</a:t>
            </a:r>
            <a:r>
              <a:rPr lang="" sz="1200" b="0" dirty="0">
                <a:solidFill>
                  <a:srgbClr val="BBBEBF"/>
                </a:solidFill>
                <a:effectLst/>
                <a:ea typeface="Cambria" panose="02040503050406030204" pitchFamily="18" charset="0"/>
              </a:rPr>
              <a:t> Dataset is too small for meta-model to learn meaningful patterns</a:t>
            </a:r>
          </a:p>
          <a:p>
            <a:pPr>
              <a:lnSpc>
                <a:spcPts val="1425"/>
              </a:lnSpc>
              <a:buNone/>
            </a:pPr>
            <a:r>
              <a:rPr lang="" sz="1200" b="0" dirty="0">
                <a:solidFill>
                  <a:srgbClr val="FFA657"/>
                </a:solidFill>
                <a:effectLst/>
                <a:ea typeface="Cambria" panose="02040503050406030204" pitchFamily="18" charset="0"/>
              </a:rPr>
              <a:t>3.</a:t>
            </a:r>
            <a:r>
              <a:rPr lang="" sz="1200" b="0" dirty="0">
                <a:solidFill>
                  <a:srgbClr val="BBBEBF"/>
                </a:solidFill>
                <a:effectLst/>
                <a:ea typeface="Cambria" panose="02040503050406030204" pitchFamily="18" charset="0"/>
              </a:rPr>
              <a:t> XGBoost is already an ensemble method internally (100 sequential trees)</a:t>
            </a:r>
          </a:p>
          <a:p>
            <a:pPr>
              <a:lnSpc>
                <a:spcPts val="1425"/>
              </a:lnSpc>
              <a:buNone/>
            </a:pPr>
            <a:br>
              <a:rPr lang="" sz="1200" b="0" dirty="0">
                <a:solidFill>
                  <a:srgbClr val="BBBEBF"/>
                </a:solidFill>
                <a:effectLst/>
                <a:ea typeface="Cambria" panose="02040503050406030204" pitchFamily="18" charset="0"/>
              </a:rPr>
            </a:br>
            <a:r>
              <a:rPr lang="" sz="1200" b="1" dirty="0">
                <a:solidFill>
                  <a:srgbClr val="C9D1D9"/>
                </a:solidFill>
                <a:effectLst/>
                <a:ea typeface="Cambria" panose="02040503050406030204" pitchFamily="18" charset="0"/>
              </a:rPr>
              <a:t>Final recommendation: use tuned XGBoost with optimal threshold = 0.44</a:t>
            </a:r>
            <a:endParaRPr lang="" sz="1200" b="0" dirty="0">
              <a:solidFill>
                <a:srgbClr val="BBBEBF"/>
              </a:solidFill>
              <a:effectLst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1012</TotalTime>
  <Words>1183</Words>
  <Application>Microsoft Office PowerPoint</Application>
  <PresentationFormat>On-screen Show (16:9)</PresentationFormat>
  <Paragraphs>263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Massive Transfusion Prediction in Trauma Patients</dc:title>
  <dc:subject>PptxGenJS Presentation</dc:subject>
  <dc:creator>PptxGenJS</dc:creator>
  <cp:lastModifiedBy>יוליאנה ויינשטיין</cp:lastModifiedBy>
  <cp:revision>23</cp:revision>
  <dcterms:created xsi:type="dcterms:W3CDTF">2026-06-13T08:06:35Z</dcterms:created>
  <dcterms:modified xsi:type="dcterms:W3CDTF">2026-07-03T06:07:16Z</dcterms:modified>
</cp:coreProperties>
</file>