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0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85FA5">
              <a:alpha val="25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3200400" cy="3200400"/>
          </a:xfrm>
          <a:prstGeom prst="ellipse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55448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194560" y="155448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20040" y="19659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1965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194560" y="19659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91440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Transfusion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Trauma Patients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91840"/>
            <a:ext cx="4206240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572000" y="34015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ABC Score with machine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regression models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—  PROBLEM DEFINITION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are we solving?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emergency room, a trauma patient may need a massive blood transfusion. Doctors must decide how many units of packed red blood cells (pRBC) to prepare — too few risks the patient's life; too many wastes a scarce resource.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30352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ML 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871216"/>
            <a:ext cx="374904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66928" y="29077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Binary classifier predicting MT need (yes/no) from vitals and labs available within minutes of arrival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Benchmarked against the bedside ABC score to show real clinical-decision-support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828032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target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28032" y="2871216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Primary: AUC-ROC, target ≥ 0.85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Secondary: Accuracy, Sensitivity, Specificity (sensitivity weighted highest clinically)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66928" y="3986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of use: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24281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</a:rPr>
              <a:t>Auto-generated from the first vitals/labs panel at trauma-bay arrival; one patient scored at a time, well under 1 second — no real-time throughput constraint at ED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—  PROBLEM DEFINITION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what we need vs what we have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30352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we collect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792224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Vitals: systolic BP, heart rate, respiratory rate, GCS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Mechanism: blunt vs. penetrating injury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Labs: lactate, arterial base excess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Demographics: age, sex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Derived: time-to-hospital (min), Shock Index (HR/SBP)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Outcome: units of pRBC transfused, used to derive the MT label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828032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data quantity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28032" y="1792224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305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MT: 1 if ≥10 units pRBC in 24h, else 0 — 1,000 patients, 25% MT-positive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834640"/>
            <a:ext cx="3657600" cy="0"/>
          </a:xfrm>
          <a:prstGeom prst="line">
            <a:avLst/>
          </a:prstGeom>
          <a:noFill/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criteria: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638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Admitted trauma patients with complete vitals, labs, and outcome (no missing values in this cohort)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822192"/>
            <a:ext cx="3657600" cy="0"/>
          </a:xfrm>
          <a:prstGeom prst="line">
            <a:avLst/>
          </a:prstGeom>
          <a:noFill/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46320" y="3895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 to address: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1513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5D4F4"/>
                </a:solidFill>
              </a:rPr>
              <a:t>No FAST result; replaces planned MIMIC-IV cohort (PhysioNet access unavailable) with CRASH-2-derived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—  DATA EXPLORATION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79476" y="1289305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30352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units 24h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792224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Mean 2.3 units, median 1 across full cohort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Zero-inflated: 75% get 0-3 units (no MT), 25% get 4-19 units (MT)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410712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0712" y="1792224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429000" y="184708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Shock Index &amp; Lactate separate MT vs. no-MT most cleanly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MT patients skew toward lower (more negative) base excess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98448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291072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91072" y="1792224"/>
            <a:ext cx="237744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309360" y="184708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MT correlates most with Lactate, Shock Index, Heart Rate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Shock Index mildly redundant with its own HR/SBP inputs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66928" y="44531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finding: target is zero-inflated → Model 1 classifies need, Model 2 predicts quantity for positives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—  DATA PRE-PROCESSING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30352" y="1463040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92808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This data has none; pipeline now defends with median/mode imputation (train-fit, no leakage)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4873752" y="1463040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873752" y="1463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67528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892808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All vitals within physiologic ranges (e.g. GCS 3-15); none removed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45536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530352" y="3310128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30352" y="33101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33284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739896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One-hot Sex &amp; Injury_Type; simplified 3-criterion ABC score built as baseline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145536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873752" y="3310128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873752" y="33101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33284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&amp; split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3739896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StandardScaler on features; 80/20 split stratified on MT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Two-model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9385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admission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92224" y="1856232"/>
            <a:ext cx="128016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2011680" y="13716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057400" y="14173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1938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58184" y="1856232"/>
            <a:ext cx="128016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977640" y="14173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1938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78424" y="1856232"/>
            <a:ext cx="128016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852160" y="13716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897880" y="14173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1938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598664" y="1856232"/>
            <a:ext cx="128016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777240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7818120" y="141732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units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1938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2331720"/>
            <a:ext cx="0" cy="50292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846320" y="2468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31920" y="2834640"/>
            <a:ext cx="1737360" cy="621792"/>
          </a:xfrm>
          <a:prstGeom prst="roundRect">
            <a:avLst>
              <a:gd name="adj" fmla="val 1029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3931920" y="28346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16642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566928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+ linear regression?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404164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taught in the curriculum  •  Interpretable coefficients — clinically meaningful  •  Logistic handles zero-inflated target cleanly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applied only to transfused subset — avoids zero-inflation problem  •  Baseline comparison: ABC Score ≥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environment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" y="1408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7007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  •  Stratified on transfusion_yes to preserve class balance  •  Random seed fixed for reproducibility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530352" y="23957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530352" y="2395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7552" y="2322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6151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training set  •  Prevents overfitting  •  Gives stable estimate of model performance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530352" y="33101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30352" y="3310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3236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5295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regularisation strength C (logistic) and fit_intercept (linear)  •  Scored on AUC-ROC (Model 1) and MAE (Model 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530352" y="42245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30352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" y="41513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method &amp; comparison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44439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tested as excluded method: AUC 0.868 — lowest of all models • Excluded: violated feature-independence assumption, poorest specificity • RF (0.879) and XGBoost (0.891) confirmed correct choices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&amp; scoring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30352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Classification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792224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10512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72384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(XGB)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10512" y="21945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72384" y="21945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2514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72384" y="2514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10512" y="28346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72384" y="28346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10512" y="3154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72384" y="3154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298448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828032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Regression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28032" y="1792224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846320" y="18745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18745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194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2194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5146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(units)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25146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28346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28346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154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154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units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7033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566928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insight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4041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cross-validation, go back to EDA: use coefficient signs and magnitudes to verify features are behaving as expected clinically (e.g., high lactate → more units). Iterate on features if needed.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data — insights from modelling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loop: XGBoost importance → back to EDA — Lactate ranks #1 in importance AND correlation (r=0.61) AND histogram separation AND clinical mechanism (tissue hypoperfusion). Three-way agreement confirms the signal is real.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10512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30352" y="1947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coefficients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2304288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Lactate (+), Heart Rate (+) — both signs match clinical expectation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 Base Excess and Injury Type also rank highly across all 3 models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RF and XGBoost feature importances rank these same two features highest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810512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456432" y="1947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coefficients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6432" y="2304288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474720" y="2359152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 and Heart Rate again the strongest predictors of unit count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Index checked for redundancy with HR/SBP — no features dropped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R²=0.66 — quantity prediction is now solid, not just the binary need decision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810512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382512" y="1947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 (Model 2)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82512" y="2304288"/>
            <a:ext cx="237744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400800" y="2359152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 fitted: roughly even scatter, no strong heteroscedasticity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plot: close to normal in the middle, tails off at high-volume cases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tail mismatch at high-volume cases — doesn't prevent hitting the MAE target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— 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✔  Model 1 AUC 0.891 ≥ 0.85  |  Model 2 MAE 1.61 ≤ 2.0  |  Naive Bayes excluded method confirmed weaker (AUC 0.868)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30352" y="2313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670048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XGBoost met the AUC target (0.891); not yet certifiable on 1,000 synthetic rows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Revalidate on a real trauma registry (MIMIC-IV / TQIP) before clinical use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Add the missing FAST criterion to complete the 4-point ABC comparison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Calibrate the decision threshold to local blood-bank capacity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176272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410712" y="2313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new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10712" y="2670048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429000" y="2724912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Re-fit quarterly as new trauma cases accumulate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Monitor feature-distribution drift as case-mix shifts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Track calibration (predicted vs. observed MT rate), not just AUC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176272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291072" y="2313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91072" y="2670048"/>
            <a:ext cx="237744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309360" y="2724912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Validate Model 1 on a real registry once data access allows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Add FAST-positive feature for a complete ABC comparison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Stress-test Model 2 on the highest-volume transfusion cases before relying on it at the extremes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</a:rPr>
              <a:t>Explore RF + XGBoost ensembling and SHAP for explainability; add Deep Learning and patient history features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641</Words>
  <Application>Microsoft Office PowerPoint</Application>
  <PresentationFormat>On-screen Show (16:9)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Massive Transfusion Prediction in Trauma Patients</dc:title>
  <dc:subject>PptxGenJS Presentation</dc:subject>
  <dc:creator>PptxGenJS</dc:creator>
  <cp:lastModifiedBy>Dima Spektor</cp:lastModifiedBy>
  <cp:revision>2</cp:revision>
  <dcterms:created xsi:type="dcterms:W3CDTF">2026-06-13T08:06:35Z</dcterms:created>
  <dcterms:modified xsi:type="dcterms:W3CDTF">2026-06-20T15:21:44Z</dcterms:modified>
</cp:coreProperties>
</file>